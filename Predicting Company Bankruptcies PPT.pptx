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530" r:id="rId5"/>
    <p:sldId id="531" r:id="rId6"/>
    <p:sldId id="533" r:id="rId7"/>
    <p:sldId id="547" r:id="rId8"/>
    <p:sldId id="537" r:id="rId9"/>
    <p:sldId id="548" r:id="rId10"/>
    <p:sldId id="538" r:id="rId11"/>
    <p:sldId id="549" r:id="rId12"/>
    <p:sldId id="555" r:id="rId13"/>
    <p:sldId id="539" r:id="rId14"/>
    <p:sldId id="550" r:id="rId15"/>
    <p:sldId id="543" r:id="rId16"/>
    <p:sldId id="553" r:id="rId17"/>
    <p:sldId id="551" r:id="rId18"/>
    <p:sldId id="552" r:id="rId19"/>
    <p:sldId id="554" r:id="rId20"/>
    <p:sldId id="54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65CE6B-7541-41F8-B88C-16A6367DDAB7}" v="73" dt="2026-01-18T05:45:12.354"/>
    <p1510:client id="{E4E1385E-0297-42F4-9A20-6E862C07508A}" v="854" dt="2026-01-17T10:45:04.5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422"/>
  </p:normalViewPr>
  <p:slideViewPr>
    <p:cSldViewPr snapToGrid="0">
      <p:cViewPr>
        <p:scale>
          <a:sx n="100" d="100"/>
          <a:sy n="100" d="100"/>
        </p:scale>
        <p:origin x="-62"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dirty="0"/>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dirty="0"/>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dirty="0"/>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endParaRPr lang="en-US" dirty="0"/>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dirty="0"/>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dirty="0"/>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dirty="0"/>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dirty="0"/>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L Models for Smart Finance: Predicting Corporate Bankruptcy | by Kaan ...">
            <a:extLst>
              <a:ext uri="{FF2B5EF4-FFF2-40B4-BE49-F238E27FC236}">
                <a16:creationId xmlns:a16="http://schemas.microsoft.com/office/drawing/2014/main" id="{FC477DBB-5C8B-AE57-85C8-860AE09F147B}"/>
              </a:ext>
            </a:extLst>
          </p:cNvPr>
          <p:cNvPicPr>
            <a:picLocks noChangeAspect="1"/>
          </p:cNvPicPr>
          <p:nvPr/>
        </p:nvPicPr>
        <p:blipFill>
          <a:blip r:embed="rId2">
            <a:alphaModFix amt="11000"/>
          </a:blip>
          <a:stretch>
            <a:fillRect/>
          </a:stretch>
        </p:blipFill>
        <p:spPr>
          <a:xfrm>
            <a:off x="2" y="-5678"/>
            <a:ext cx="12191995" cy="6869357"/>
          </a:xfrm>
          <a:prstGeom prst="rect">
            <a:avLst/>
          </a:prstGeom>
        </p:spPr>
      </p:pic>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a:xfrm>
            <a:off x="237170" y="767291"/>
            <a:ext cx="11718407" cy="1481328"/>
          </a:xfrm>
        </p:spPr>
        <p:txBody>
          <a:bodyPr/>
          <a:lstStyle/>
          <a:p>
            <a:r>
              <a:rPr lang="en-US" dirty="0">
                <a:latin typeface="Century Schoolbook"/>
                <a:ea typeface="+mj-lt"/>
                <a:cs typeface="+mj-lt"/>
              </a:rPr>
              <a:t>Predicting Company Bankruptcies</a:t>
            </a:r>
            <a:endParaRPr lang="en-US">
              <a:latin typeface="Century Schoolbook"/>
            </a:endParaRP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a:xfrm>
            <a:off x="2704094" y="4606160"/>
            <a:ext cx="8060349" cy="2254197"/>
          </a:xfrm>
        </p:spPr>
        <p:txBody>
          <a:bodyPr vert="horz" lIns="91440" tIns="45720" rIns="91440" bIns="45720" rtlCol="0" anchor="t">
            <a:noAutofit/>
          </a:bodyPr>
          <a:lstStyle/>
          <a:p>
            <a:pPr marL="285750" indent="-285750" algn="l">
              <a:buFont typeface="Arial"/>
              <a:buChar char="•"/>
            </a:pPr>
            <a:r>
              <a:rPr lang="en-US" b="1" dirty="0">
                <a:ea typeface="+mn-lt"/>
                <a:cs typeface="+mn-lt"/>
              </a:rPr>
              <a:t>Name: Sayantani Guha</a:t>
            </a:r>
            <a:endParaRPr lang="en-US" b="1"/>
          </a:p>
          <a:p>
            <a:pPr marL="285750" indent="-285750" algn="l">
              <a:buFont typeface="Arial"/>
              <a:buChar char="•"/>
            </a:pPr>
            <a:r>
              <a:rPr lang="en-US" b="1" dirty="0">
                <a:ea typeface="+mn-lt"/>
                <a:cs typeface="+mn-lt"/>
              </a:rPr>
              <a:t>Domain: Data Science &amp; Artificial Intelligence</a:t>
            </a:r>
            <a:endParaRPr lang="en-US" b="1"/>
          </a:p>
          <a:p>
            <a:pPr marL="285750" indent="-285750" algn="l">
              <a:buFont typeface="Arial"/>
              <a:buChar char="•"/>
            </a:pPr>
            <a:r>
              <a:rPr lang="en-US" b="1" dirty="0">
                <a:ea typeface="+mn-lt"/>
                <a:cs typeface="+mn-lt"/>
              </a:rPr>
              <a:t>Organization: Spinnaker Analytics</a:t>
            </a:r>
            <a:endParaRPr lang="en-US" b="1"/>
          </a:p>
          <a:p>
            <a:pPr marL="285750" indent="-285750" algn="l">
              <a:buFont typeface="Arial"/>
              <a:buChar char="•"/>
            </a:pPr>
            <a:r>
              <a:rPr lang="en-US" b="1" dirty="0">
                <a:ea typeface="+mn-lt"/>
                <a:cs typeface="+mn-lt"/>
              </a:rPr>
              <a:t>Submission Date: February 2026</a:t>
            </a:r>
            <a:endParaRPr lang="en-US" b="1"/>
          </a:p>
          <a:p>
            <a:pPr algn="l"/>
            <a:endParaRPr lang="en-US" dirty="0"/>
          </a:p>
          <a:p>
            <a:endParaRPr lang="en-US" dirty="0"/>
          </a:p>
        </p:txBody>
      </p:sp>
      <p:sp>
        <p:nvSpPr>
          <p:cNvPr id="5" name="TextBox 4">
            <a:extLst>
              <a:ext uri="{FF2B5EF4-FFF2-40B4-BE49-F238E27FC236}">
                <a16:creationId xmlns:a16="http://schemas.microsoft.com/office/drawing/2014/main" id="{764DA01C-1DBD-06AC-478F-6CCC5363B313}"/>
              </a:ext>
            </a:extLst>
          </p:cNvPr>
          <p:cNvSpPr txBox="1"/>
          <p:nvPr/>
        </p:nvSpPr>
        <p:spPr>
          <a:xfrm>
            <a:off x="2394455" y="3196239"/>
            <a:ext cx="7185803" cy="46166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sz="2400" b="1" dirty="0">
                <a:solidFill>
                  <a:schemeClr val="bg1"/>
                </a:solidFill>
                <a:ea typeface="+mn-lt"/>
                <a:cs typeface="+mn-lt"/>
              </a:rPr>
              <a:t>Machine Learning–Based Risk Prediction System</a:t>
            </a:r>
            <a:endParaRPr lang="en-US" sz="2400" b="1">
              <a:solidFill>
                <a:schemeClr val="bg1"/>
              </a:solidFill>
              <a:cs typeface="Segoe UI Light"/>
            </a:endParaRP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1636834" y="415161"/>
            <a:ext cx="8878824" cy="1069848"/>
          </a:xfrm>
        </p:spPr>
        <p:txBody>
          <a:bodyPr vert="horz" lIns="91440" tIns="45720" rIns="91440" bIns="45720" rtlCol="0" anchor="ctr">
            <a:normAutofit/>
          </a:bodyPr>
          <a:lstStyle/>
          <a:p>
            <a:pPr algn="ctr"/>
            <a:r>
              <a:rPr lang="en-US" sz="4000" b="1" spc="600" dirty="0">
                <a:ln w="28575">
                  <a:noFill/>
                  <a:prstDash val="solid"/>
                </a:ln>
                <a:latin typeface="Century Schoolbook"/>
              </a:rPr>
              <a:t>CONTENTS</a:t>
            </a:r>
            <a:endParaRPr lang="en-US">
              <a:latin typeface="Century Schoolbook"/>
            </a:endParaRPr>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219890" y="1465225"/>
            <a:ext cx="4984400" cy="4964846"/>
          </a:xfrm>
        </p:spPr>
        <p:txBody>
          <a:bodyPr vert="horz" lIns="91440" tIns="45720" rIns="91440" bIns="45720" rtlCol="0" anchor="t">
            <a:noAutofit/>
          </a:bodyPr>
          <a:lstStyle/>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Introduction</a:t>
            </a:r>
          </a:p>
          <a:p>
            <a:pPr marL="342900" indent="-342900"/>
            <a:r>
              <a:rPr lang="en-US" dirty="0">
                <a:ea typeface="+mn-lt"/>
                <a:cs typeface="+mn-lt"/>
              </a:rPr>
              <a:t>Problem Statement</a:t>
            </a:r>
            <a:endParaRPr lang="en-US" dirty="0">
              <a:latin typeface="Segoe UI Light" panose="020B0502040204020203" pitchFamily="34" charset="0"/>
              <a:cs typeface="Segoe UI Light" panose="020B0502040204020203" pitchFamily="34" charset="0"/>
            </a:endParaRPr>
          </a:p>
          <a:p>
            <a:pPr marL="342900" indent="-342900"/>
            <a:r>
              <a:rPr lang="en-US">
                <a:ea typeface="+mn-lt"/>
                <a:cs typeface="+mn-lt"/>
              </a:rPr>
              <a:t>Project Objectives</a:t>
            </a:r>
          </a:p>
          <a:p>
            <a:pPr marL="342900" indent="-342900"/>
            <a:r>
              <a:rPr lang="en-US">
                <a:ea typeface="+mn-lt"/>
                <a:cs typeface="+mn-lt"/>
              </a:rPr>
              <a:t>Dataset Overview</a:t>
            </a:r>
          </a:p>
          <a:p>
            <a:pPr marL="342900" indent="-342900"/>
            <a:r>
              <a:rPr lang="en-US">
                <a:ea typeface="+mn-lt"/>
                <a:cs typeface="+mn-lt"/>
              </a:rPr>
              <a:t>Target Variable Analysis</a:t>
            </a:r>
          </a:p>
          <a:p>
            <a:pPr marL="342900" indent="-342900"/>
            <a:r>
              <a:rPr lang="en-US">
                <a:ea typeface="+mn-lt"/>
                <a:cs typeface="+mn-lt"/>
              </a:rPr>
              <a:t>Exploratory Data Analysis (EDA)</a:t>
            </a:r>
          </a:p>
          <a:p>
            <a:pPr marL="342900" indent="-342900"/>
            <a:r>
              <a:rPr lang="en-US" dirty="0">
                <a:ea typeface="+mn-lt"/>
                <a:cs typeface="+mn-lt"/>
              </a:rPr>
              <a:t>Feature Selection</a:t>
            </a:r>
            <a:endParaRPr lang="en-US" dirty="0">
              <a:latin typeface="Segoe UI Light" panose="020B0502040204020203" pitchFamily="34" charset="0"/>
              <a:cs typeface="Segoe UI Light" panose="020B0502040204020203" pitchFamily="34" charset="0"/>
            </a:endParaRPr>
          </a:p>
        </p:txBody>
      </p:sp>
      <p:sp>
        <p:nvSpPr>
          <p:cNvPr id="4" name="Footer Placeholder 3">
            <a:extLst>
              <a:ext uri="{FF2B5EF4-FFF2-40B4-BE49-F238E27FC236}">
                <a16:creationId xmlns:a16="http://schemas.microsoft.com/office/drawing/2014/main" id="{DDD0AE42-75AF-229C-2692-C10ADA4FFA83}"/>
              </a:ext>
            </a:extLst>
          </p:cNvPr>
          <p:cNvSpPr>
            <a:spLocks noGrp="1"/>
          </p:cNvSpPr>
          <p:nvPr>
            <p:ph type="ftr" sz="quarter" idx="10"/>
          </p:nvPr>
        </p:nvSpPr>
        <p:spPr>
          <a:xfrm>
            <a:off x="466344" y="6190488"/>
            <a:ext cx="2763040" cy="259943"/>
          </a:xfrm>
        </p:spPr>
        <p:txBody>
          <a:bodyPr/>
          <a:lstStyle/>
          <a:p>
            <a:r>
              <a:rPr lang="en-US" dirty="0">
                <a:ea typeface="+mn-lt"/>
                <a:cs typeface="+mn-lt"/>
              </a:rPr>
              <a:t>Predicting Company Bankruptcies</a:t>
            </a:r>
            <a:endParaRPr lang="en-US" dirty="0"/>
          </a:p>
        </p:txBody>
      </p:sp>
      <p:sp>
        <p:nvSpPr>
          <p:cNvPr id="6" name="TextBox 5">
            <a:extLst>
              <a:ext uri="{FF2B5EF4-FFF2-40B4-BE49-F238E27FC236}">
                <a16:creationId xmlns:a16="http://schemas.microsoft.com/office/drawing/2014/main" id="{BE6AC178-23BC-2085-5768-324E0BD29D0B}"/>
              </a:ext>
            </a:extLst>
          </p:cNvPr>
          <p:cNvSpPr txBox="1"/>
          <p:nvPr/>
        </p:nvSpPr>
        <p:spPr>
          <a:xfrm>
            <a:off x="6212894" y="1460864"/>
            <a:ext cx="4597878" cy="48792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GB" sz="2400" dirty="0">
                <a:solidFill>
                  <a:schemeClr val="bg1"/>
                </a:solidFill>
                <a:ea typeface="+mn-lt"/>
                <a:cs typeface="+mn-lt"/>
              </a:rPr>
              <a:t>Data Preprocessing</a:t>
            </a:r>
            <a:endParaRPr lang="en-US">
              <a:cs typeface="Segoe UI Light"/>
            </a:endParaRP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Machine Learning Models</a:t>
            </a: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Model Evaluation Metrics</a:t>
            </a: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Model Comparison</a:t>
            </a: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Final Model Selection</a:t>
            </a: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Conclusion</a:t>
            </a:r>
          </a:p>
          <a:p>
            <a:pPr marL="342900" indent="-342900">
              <a:buFont typeface="Courier New"/>
              <a:buChar char="o"/>
            </a:pPr>
            <a:endParaRPr lang="en-GB" sz="2400" dirty="0">
              <a:solidFill>
                <a:schemeClr val="bg1"/>
              </a:solidFill>
              <a:ea typeface="+mn-lt"/>
              <a:cs typeface="+mn-lt"/>
            </a:endParaRPr>
          </a:p>
          <a:p>
            <a:pPr marL="342900" indent="-342900">
              <a:buFont typeface="Courier New"/>
              <a:buChar char="o"/>
            </a:pPr>
            <a:r>
              <a:rPr lang="en-GB" sz="2400" dirty="0">
                <a:solidFill>
                  <a:schemeClr val="bg1"/>
                </a:solidFill>
                <a:ea typeface="+mn-lt"/>
                <a:cs typeface="+mn-lt"/>
              </a:rPr>
              <a:t>Business Impact</a:t>
            </a:r>
            <a:endParaRPr lang="en-GB" sz="2400">
              <a:solidFill>
                <a:schemeClr val="bg1"/>
              </a:solidFill>
              <a:cs typeface="Segoe UI Light"/>
            </a:endParaRPr>
          </a:p>
        </p:txBody>
      </p:sp>
      <p:pic>
        <p:nvPicPr>
          <p:cNvPr id="8" name="Picture 7" descr="Corporate Bankruptcies Are Rising Globally | Global Finance Magazine">
            <a:extLst>
              <a:ext uri="{FF2B5EF4-FFF2-40B4-BE49-F238E27FC236}">
                <a16:creationId xmlns:a16="http://schemas.microsoft.com/office/drawing/2014/main" id="{863C06D3-AA3E-B157-DEE1-0284E6D097C8}"/>
              </a:ext>
            </a:extLst>
          </p:cNvPr>
          <p:cNvPicPr>
            <a:picLocks noChangeAspect="1"/>
          </p:cNvPicPr>
          <p:nvPr/>
        </p:nvPicPr>
        <p:blipFill>
          <a:blip r:embed="rId2">
            <a:alphaModFix amt="14000"/>
            <a:extLst>
              <a:ext uri="{BEBA8EAE-BF5A-486C-A8C5-ECC9F3942E4B}">
                <a14:imgProps xmlns:a14="http://schemas.microsoft.com/office/drawing/2010/main">
                  <a14:imgLayer r:embed="rId3">
                    <a14:imgEffect>
                      <a14:saturation sat="108000"/>
                    </a14:imgEffect>
                    <a14:imgEffect>
                      <a14:brightnessContrast contrast="31000"/>
                    </a14:imgEffect>
                  </a14:imgLayer>
                </a14:imgProps>
              </a:ext>
            </a:extLst>
          </a:blip>
          <a:stretch>
            <a:fillRect/>
          </a:stretch>
        </p:blipFill>
        <p:spPr>
          <a:xfrm>
            <a:off x="589472" y="150962"/>
            <a:ext cx="11444376" cy="6685473"/>
          </a:xfrm>
          <a:prstGeom prst="ellipse">
            <a:avLst/>
          </a:prstGeom>
          <a:ln>
            <a:noFill/>
          </a:ln>
          <a:effectLst>
            <a:softEdge rad="112500"/>
          </a:effectLst>
        </p:spPr>
      </p:pic>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a:xfrm>
            <a:off x="1854277" y="-156771"/>
            <a:ext cx="7735824" cy="1069848"/>
          </a:xfrm>
        </p:spPr>
        <p:txBody>
          <a:bodyPr/>
          <a:lstStyle/>
          <a:p>
            <a:r>
              <a:rPr lang="en-US" dirty="0">
                <a:latin typeface="Century Schoolbook"/>
              </a:rPr>
              <a:t>INTRODUCTION</a:t>
            </a:r>
          </a:p>
        </p:txBody>
      </p:sp>
      <p:pic>
        <p:nvPicPr>
          <p:cNvPr id="4" name="Picture 3" descr="ML Models for Smart Finance: Predicting Corporate Bankruptcy | by Kaan ...">
            <a:extLst>
              <a:ext uri="{FF2B5EF4-FFF2-40B4-BE49-F238E27FC236}">
                <a16:creationId xmlns:a16="http://schemas.microsoft.com/office/drawing/2014/main" id="{60B97EB0-EAA6-23B5-3779-C22E8ED360D3}"/>
              </a:ext>
            </a:extLst>
          </p:cNvPr>
          <p:cNvPicPr>
            <a:picLocks noChangeAspect="1"/>
          </p:cNvPicPr>
          <p:nvPr/>
        </p:nvPicPr>
        <p:blipFill>
          <a:blip r:embed="rId2">
            <a:alphaModFix amt="12000"/>
          </a:blip>
          <a:stretch>
            <a:fillRect/>
          </a:stretch>
        </p:blipFill>
        <p:spPr>
          <a:xfrm>
            <a:off x="2" y="8700"/>
            <a:ext cx="12191998" cy="6854980"/>
          </a:xfrm>
          <a:prstGeom prst="rect">
            <a:avLst/>
          </a:prstGeom>
        </p:spPr>
      </p:pic>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a:xfrm>
            <a:off x="1034768" y="1111486"/>
            <a:ext cx="9504237" cy="5360797"/>
          </a:xfrm>
        </p:spPr>
        <p:txBody>
          <a:bodyPr vert="horz" lIns="91440" tIns="45720" rIns="91440" bIns="45720" rtlCol="0" anchor="t">
            <a:noAutofit/>
          </a:bodyPr>
          <a:lstStyle/>
          <a:p>
            <a:pPr algn="l"/>
            <a:r>
              <a:rPr lang="en-US" sz="2400" b="1" dirty="0">
                <a:ea typeface="+mn-lt"/>
                <a:cs typeface="+mn-lt"/>
              </a:rPr>
              <a:t>Predicting company bankruptcies is a critical task for financial institutions, investors, and risk management teams. Bankruptcy events can lead to significant financial losses and impact overall market stability. Traditional prediction methods often fail to capture complex relationships among financial indicators and are not effective in early risk detection.</a:t>
            </a:r>
            <a:endParaRPr lang="en-US" sz="2400" b="1" dirty="0"/>
          </a:p>
          <a:p>
            <a:pPr algn="l"/>
            <a:r>
              <a:rPr lang="en-US" sz="2400" b="1" dirty="0">
                <a:ea typeface="+mn-lt"/>
                <a:cs typeface="+mn-lt"/>
              </a:rPr>
              <a:t>This project focuses on building a machine learning–based classification system to predict whether a company is likely to go bankrupt using historical financial data. By analyzing key financial ratios and performance indicators, the model identifies early warning signals of financial distress. The proposed solution aims to improve risk assessment, support informed decision-making, and help organizations take proactive measures to minimize potential losses.</a:t>
            </a:r>
            <a:endParaRPr lang="en-US" sz="2400" b="1" dirty="0"/>
          </a:p>
          <a:p>
            <a:pPr algn="l"/>
            <a:endParaRPr lang="en-US" sz="2400" b="1" dirty="0"/>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9FDF-6D7C-0336-F387-8BD8EE2FAD41}"/>
              </a:ext>
            </a:extLst>
          </p:cNvPr>
          <p:cNvSpPr>
            <a:spLocks noGrp="1"/>
          </p:cNvSpPr>
          <p:nvPr>
            <p:ph type="title"/>
          </p:nvPr>
        </p:nvSpPr>
        <p:spPr>
          <a:xfrm>
            <a:off x="850392" y="-116802"/>
            <a:ext cx="10881360" cy="1069848"/>
          </a:xfrm>
        </p:spPr>
        <p:txBody>
          <a:bodyPr/>
          <a:lstStyle/>
          <a:p>
            <a:r>
              <a:rPr lang="en-GB" dirty="0">
                <a:latin typeface="Century Schoolbook"/>
                <a:ea typeface="+mj-lt"/>
                <a:cs typeface="+mj-lt"/>
              </a:rPr>
              <a:t>Problem Statement</a:t>
            </a:r>
            <a:endParaRPr lang="en-US" dirty="0">
              <a:latin typeface="Century Schoolbook"/>
            </a:endParaRPr>
          </a:p>
        </p:txBody>
      </p:sp>
      <p:sp>
        <p:nvSpPr>
          <p:cNvPr id="3" name="Content Placeholder 2">
            <a:extLst>
              <a:ext uri="{FF2B5EF4-FFF2-40B4-BE49-F238E27FC236}">
                <a16:creationId xmlns:a16="http://schemas.microsoft.com/office/drawing/2014/main" id="{27050E6B-2314-79A3-607D-43A12553A1F0}"/>
              </a:ext>
            </a:extLst>
          </p:cNvPr>
          <p:cNvSpPr>
            <a:spLocks noGrp="1"/>
          </p:cNvSpPr>
          <p:nvPr>
            <p:ph idx="1"/>
          </p:nvPr>
        </p:nvSpPr>
        <p:spPr>
          <a:xfrm>
            <a:off x="1633212" y="1177679"/>
            <a:ext cx="9240039" cy="4999985"/>
          </a:xfrm>
        </p:spPr>
        <p:txBody>
          <a:bodyPr vert="horz" lIns="91440" tIns="45720" rIns="91440" bIns="45720" rtlCol="0" anchor="t">
            <a:noAutofit/>
          </a:bodyPr>
          <a:lstStyle/>
          <a:p>
            <a:pPr indent="-347345"/>
            <a:r>
              <a:rPr lang="en-GB" sz="2400" b="1" dirty="0">
                <a:latin typeface="Aptos Display"/>
                <a:ea typeface="+mn-lt"/>
                <a:cs typeface="+mn-lt"/>
              </a:rPr>
              <a:t>Company bankruptcy poses a serious risk to financial institutions, investors, and the overall economy. Traditional bankruptcy prediction methods rely on manual analysis and rule-based systems, which are often time-consuming and ineffective in handling large volumes of financial data and complex relationships among financial indicators. Due to the lack of timely and accurate prediction mechanisms, organizations often fail to identify early warning signs of financial distress.</a:t>
            </a:r>
            <a:endParaRPr lang="en-GB" sz="2400" b="1">
              <a:latin typeface="Aptos Display"/>
            </a:endParaRPr>
          </a:p>
          <a:p>
            <a:pPr indent="-347345"/>
            <a:r>
              <a:rPr lang="en-GB" sz="2400" b="1" dirty="0">
                <a:latin typeface="Aptos Display"/>
                <a:ea typeface="+mn-lt"/>
                <a:cs typeface="+mn-lt"/>
              </a:rPr>
              <a:t>The objective of this project is to develop a machine learning–based system that can accurately predict whether a company is likely to go bankrupt using historical financial ratios and performance indicators. By leveraging data-driven techniques, the proposed solution aims to improve early risk detection, support better financial decision-making, and reduce potential economic losses.</a:t>
            </a:r>
            <a:endParaRPr lang="en-GB" sz="2400" b="1">
              <a:latin typeface="Aptos Display"/>
            </a:endParaRPr>
          </a:p>
          <a:p>
            <a:pPr indent="-347345"/>
            <a:endParaRPr lang="en-GB" dirty="0"/>
          </a:p>
        </p:txBody>
      </p:sp>
      <p:pic>
        <p:nvPicPr>
          <p:cNvPr id="6" name="Picture 5" descr="Corporate Bankruptcies Are Rising Globally | Global Finance Magazine">
            <a:extLst>
              <a:ext uri="{FF2B5EF4-FFF2-40B4-BE49-F238E27FC236}">
                <a16:creationId xmlns:a16="http://schemas.microsoft.com/office/drawing/2014/main" id="{FA7783A6-9EF2-C1C2-A1BD-10615B9A6726}"/>
              </a:ext>
            </a:extLst>
          </p:cNvPr>
          <p:cNvPicPr>
            <a:picLocks noChangeAspect="1"/>
          </p:cNvPicPr>
          <p:nvPr/>
        </p:nvPicPr>
        <p:blipFill>
          <a:blip r:embed="rId2">
            <a:alphaModFix amt="14000"/>
          </a:blip>
          <a:stretch>
            <a:fillRect/>
          </a:stretch>
        </p:blipFill>
        <p:spPr>
          <a:xfrm>
            <a:off x="115020" y="-7188"/>
            <a:ext cx="12076980" cy="6872376"/>
          </a:xfrm>
          <a:prstGeom prst="rect">
            <a:avLst/>
          </a:prstGeom>
          <a:ln>
            <a:solidFill>
              <a:srgbClr val="4472C4"/>
            </a:solidFill>
          </a:ln>
        </p:spPr>
      </p:pic>
      <p:sp>
        <p:nvSpPr>
          <p:cNvPr id="4" name="Slide Number Placeholder 3">
            <a:extLst>
              <a:ext uri="{FF2B5EF4-FFF2-40B4-BE49-F238E27FC236}">
                <a16:creationId xmlns:a16="http://schemas.microsoft.com/office/drawing/2014/main" id="{654CD737-04B7-4E3F-4DDE-6395E0DFCAA9}"/>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
        <p:nvSpPr>
          <p:cNvPr id="5" name="Footer Placeholder 4">
            <a:extLst>
              <a:ext uri="{FF2B5EF4-FFF2-40B4-BE49-F238E27FC236}">
                <a16:creationId xmlns:a16="http://schemas.microsoft.com/office/drawing/2014/main" id="{F97D1783-C35C-B646-11DA-B0C0B7C0AF55}"/>
              </a:ext>
            </a:extLst>
          </p:cNvPr>
          <p:cNvSpPr>
            <a:spLocks noGrp="1"/>
          </p:cNvSpPr>
          <p:nvPr>
            <p:ph type="ftr" sz="quarter" idx="10"/>
          </p:nvPr>
        </p:nvSpPr>
        <p:spPr>
          <a:xfrm>
            <a:off x="121287" y="6406149"/>
            <a:ext cx="3338135" cy="73037"/>
          </a:xfrm>
        </p:spPr>
        <p:txBody>
          <a:bodyPr/>
          <a:lstStyle/>
          <a:p>
            <a:pPr algn="ctr"/>
            <a:r>
              <a:rPr lang="en-US" sz="900" b="1" cap="all" dirty="0">
                <a:latin typeface="Century Schoolbook"/>
                <a:cs typeface="Segoe UI Light"/>
              </a:rPr>
              <a:t>Predicting </a:t>
            </a:r>
            <a:r>
              <a:rPr lang="en-US" sz="900" b="1" cap="all" err="1">
                <a:latin typeface="Century Schoolbook"/>
                <a:cs typeface="Segoe UI Light"/>
              </a:rPr>
              <a:t>CompanyBankruptcies</a:t>
            </a:r>
            <a:endParaRPr lang="en-US" sz="900">
              <a:solidFill>
                <a:srgbClr val="000000"/>
              </a:solidFill>
              <a:latin typeface="Century Schoolbook"/>
              <a:cs typeface="Segoe UI Light"/>
            </a:endParaRPr>
          </a:p>
          <a:p>
            <a:endParaRPr lang="en-US" dirty="0"/>
          </a:p>
        </p:txBody>
      </p:sp>
    </p:spTree>
    <p:extLst>
      <p:ext uri="{BB962C8B-B14F-4D97-AF65-F5344CB8AC3E}">
        <p14:creationId xmlns:p14="http://schemas.microsoft.com/office/powerpoint/2010/main" val="167101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a:xfrm>
            <a:off x="1193322" y="279439"/>
            <a:ext cx="9804839" cy="1715218"/>
          </a:xfrm>
        </p:spPr>
        <p:txBody>
          <a:bodyPr/>
          <a:lstStyle/>
          <a:p>
            <a:r>
              <a:rPr lang="en-US" dirty="0">
                <a:latin typeface="Century Schoolbook"/>
                <a:ea typeface="+mj-lt"/>
                <a:cs typeface="+mj-lt"/>
              </a:rPr>
              <a:t>Project Objectives</a:t>
            </a:r>
            <a:endParaRPr lang="en-US" dirty="0">
              <a:latin typeface="Century Schoolbook"/>
            </a:endParaRPr>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a:xfrm>
            <a:off x="1395754" y="1847032"/>
            <a:ext cx="9399860" cy="3567939"/>
          </a:xfrm>
        </p:spPr>
        <p:txBody>
          <a:bodyPr vert="horz" lIns="91440" tIns="45720" rIns="91440" bIns="45720" rtlCol="0" anchor="t">
            <a:noAutofit/>
          </a:bodyPr>
          <a:lstStyle/>
          <a:p>
            <a:pPr marL="285750" indent="-285750" algn="l">
              <a:buFont typeface="Arial"/>
              <a:buChar char="•"/>
            </a:pPr>
            <a:r>
              <a:rPr lang="en-US" sz="2400" b="1" dirty="0">
                <a:latin typeface="Aptos Display"/>
                <a:ea typeface="+mn-lt"/>
                <a:cs typeface="+mn-lt"/>
              </a:rPr>
              <a:t>To analyze financial indicators that influence company bankruptcy.</a:t>
            </a:r>
            <a:endParaRPr lang="en-US" sz="2400" b="1" dirty="0">
              <a:latin typeface="Aptos Display"/>
            </a:endParaRPr>
          </a:p>
          <a:p>
            <a:pPr marL="285750" indent="-285750" algn="l">
              <a:buFont typeface="Arial"/>
              <a:buChar char="•"/>
            </a:pPr>
            <a:r>
              <a:rPr lang="en-US" sz="2400" b="1" dirty="0">
                <a:latin typeface="Aptos Display"/>
                <a:ea typeface="+mn-lt"/>
                <a:cs typeface="+mn-lt"/>
              </a:rPr>
              <a:t>To perform exploratory data analysis to identify patterns and trends in the data.</a:t>
            </a:r>
            <a:endParaRPr lang="en-US" sz="2400" b="1">
              <a:latin typeface="Aptos Display"/>
            </a:endParaRPr>
          </a:p>
          <a:p>
            <a:pPr marL="285750" indent="-285750" algn="l">
              <a:buFont typeface="Arial"/>
              <a:buChar char="•"/>
            </a:pPr>
            <a:r>
              <a:rPr lang="en-US" sz="2400" b="1" dirty="0">
                <a:latin typeface="Aptos Display"/>
                <a:ea typeface="+mn-lt"/>
                <a:cs typeface="+mn-lt"/>
              </a:rPr>
              <a:t>To handle class imbalance and preprocess the dataset for accurate modeling.</a:t>
            </a:r>
            <a:endParaRPr lang="en-US" sz="2400" b="1">
              <a:latin typeface="Aptos Display"/>
            </a:endParaRPr>
          </a:p>
          <a:p>
            <a:pPr marL="285750" indent="-285750" algn="l">
              <a:buFont typeface="Arial"/>
              <a:buChar char="•"/>
            </a:pPr>
            <a:r>
              <a:rPr lang="en-US" sz="2400" b="1" dirty="0">
                <a:latin typeface="Aptos Display"/>
                <a:ea typeface="+mn-lt"/>
                <a:cs typeface="+mn-lt"/>
              </a:rPr>
              <a:t>To build and compare multiple machine learning models for bankruptcy prediction.</a:t>
            </a:r>
            <a:endParaRPr lang="en-US" sz="2400" b="1">
              <a:latin typeface="Aptos Display"/>
            </a:endParaRPr>
          </a:p>
          <a:p>
            <a:pPr marL="285750" indent="-285750" algn="l">
              <a:buFont typeface="Arial"/>
              <a:buChar char="•"/>
            </a:pPr>
            <a:r>
              <a:rPr lang="en-US" sz="2400" b="1" dirty="0">
                <a:latin typeface="Aptos Display"/>
                <a:ea typeface="+mn-lt"/>
                <a:cs typeface="+mn-lt"/>
              </a:rPr>
              <a:t>To select the best-performing model based on appropriate evaluation metrics.</a:t>
            </a:r>
            <a:endParaRPr lang="en-US" sz="2400" b="1">
              <a:latin typeface="Aptos Display"/>
            </a:endParaRPr>
          </a:p>
          <a:p>
            <a:endParaRPr lang="en-US" dirty="0"/>
          </a:p>
        </p:txBody>
      </p:sp>
      <p:pic>
        <p:nvPicPr>
          <p:cNvPr id="4" name="Picture 3" descr="ML Models for Smart Finance: Predicting Corporate Bankruptcy | by Kaan ...">
            <a:extLst>
              <a:ext uri="{FF2B5EF4-FFF2-40B4-BE49-F238E27FC236}">
                <a16:creationId xmlns:a16="http://schemas.microsoft.com/office/drawing/2014/main" id="{720D674E-0492-4B2E-C34F-248D3BA2A073}"/>
              </a:ext>
            </a:extLst>
          </p:cNvPr>
          <p:cNvPicPr>
            <a:picLocks noChangeAspect="1"/>
          </p:cNvPicPr>
          <p:nvPr/>
        </p:nvPicPr>
        <p:blipFill>
          <a:blip r:embed="rId2">
            <a:alphaModFix amt="10000"/>
          </a:blip>
          <a:stretch>
            <a:fillRect/>
          </a:stretch>
        </p:blipFill>
        <p:spPr>
          <a:xfrm>
            <a:off x="1" y="-5680"/>
            <a:ext cx="12177621" cy="6869360"/>
          </a:xfrm>
          <a:prstGeom prst="rect">
            <a:avLst/>
          </a:prstGeom>
        </p:spPr>
      </p:pic>
    </p:spTree>
    <p:extLst>
      <p:ext uri="{BB962C8B-B14F-4D97-AF65-F5344CB8AC3E}">
        <p14:creationId xmlns:p14="http://schemas.microsoft.com/office/powerpoint/2010/main" val="121321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1BA30-4E18-664E-3E63-D8826A8E2F35}"/>
              </a:ext>
            </a:extLst>
          </p:cNvPr>
          <p:cNvSpPr>
            <a:spLocks noGrp="1"/>
          </p:cNvSpPr>
          <p:nvPr>
            <p:ph type="ctrTitle"/>
          </p:nvPr>
        </p:nvSpPr>
        <p:spPr>
          <a:xfrm>
            <a:off x="2271623" y="351325"/>
            <a:ext cx="7705747" cy="680050"/>
          </a:xfrm>
        </p:spPr>
        <p:txBody>
          <a:bodyPr/>
          <a:lstStyle/>
          <a:p>
            <a:r>
              <a:rPr lang="en-GB" dirty="0">
                <a:latin typeface="Century Schoolbook"/>
                <a:ea typeface="+mj-lt"/>
                <a:cs typeface="+mj-lt"/>
              </a:rPr>
              <a:t>Dataset Overview</a:t>
            </a:r>
            <a:endParaRPr lang="en-US" dirty="0">
              <a:latin typeface="Century Schoolbook"/>
            </a:endParaRPr>
          </a:p>
        </p:txBody>
      </p:sp>
      <p:pic>
        <p:nvPicPr>
          <p:cNvPr id="4" name="Picture 3" descr="The most noteworthy business bankruptcies of 2024 (so far) - TheStreet">
            <a:extLst>
              <a:ext uri="{FF2B5EF4-FFF2-40B4-BE49-F238E27FC236}">
                <a16:creationId xmlns:a16="http://schemas.microsoft.com/office/drawing/2014/main" id="{B20A037D-BE1A-F4DA-59EA-C26FE6AEBE27}"/>
              </a:ext>
            </a:extLst>
          </p:cNvPr>
          <p:cNvPicPr>
            <a:picLocks noChangeAspect="1"/>
          </p:cNvPicPr>
          <p:nvPr/>
        </p:nvPicPr>
        <p:blipFill>
          <a:blip r:embed="rId2">
            <a:alphaModFix amt="20000"/>
          </a:blip>
          <a:stretch>
            <a:fillRect/>
          </a:stretch>
        </p:blipFill>
        <p:spPr>
          <a:xfrm>
            <a:off x="1" y="1151"/>
            <a:ext cx="12191997" cy="6841321"/>
          </a:xfrm>
          <a:prstGeom prst="rect">
            <a:avLst/>
          </a:prstGeom>
        </p:spPr>
      </p:pic>
      <p:sp>
        <p:nvSpPr>
          <p:cNvPr id="3" name="Subtitle 2">
            <a:extLst>
              <a:ext uri="{FF2B5EF4-FFF2-40B4-BE49-F238E27FC236}">
                <a16:creationId xmlns:a16="http://schemas.microsoft.com/office/drawing/2014/main" id="{1C5F68B9-9B8D-6582-6EF5-E67F5110B4CC}"/>
              </a:ext>
            </a:extLst>
          </p:cNvPr>
          <p:cNvSpPr>
            <a:spLocks noGrp="1"/>
          </p:cNvSpPr>
          <p:nvPr>
            <p:ph type="subTitle" idx="1"/>
          </p:nvPr>
        </p:nvSpPr>
        <p:spPr>
          <a:xfrm>
            <a:off x="1280736" y="1717634"/>
            <a:ext cx="9629895" cy="3294773"/>
          </a:xfrm>
        </p:spPr>
        <p:txBody>
          <a:bodyPr vert="horz" lIns="91440" tIns="45720" rIns="91440" bIns="45720" rtlCol="0" anchor="t">
            <a:noAutofit/>
          </a:bodyPr>
          <a:lstStyle/>
          <a:p>
            <a:pPr marL="285750" indent="-285750" algn="l">
              <a:buFont typeface="Arial"/>
              <a:buChar char="•"/>
            </a:pPr>
            <a:r>
              <a:rPr lang="en-GB" sz="2400">
                <a:latin typeface="Aptos Display"/>
                <a:ea typeface="+mn-lt"/>
                <a:cs typeface="+mn-lt"/>
              </a:rPr>
              <a:t>The dataset consists of financial ratios and performance indicators of companies.</a:t>
            </a:r>
            <a:endParaRPr lang="en-US" sz="2400">
              <a:latin typeface="Aptos Display"/>
            </a:endParaRPr>
          </a:p>
          <a:p>
            <a:pPr marL="285750" indent="-285750" algn="l">
              <a:buFont typeface="Arial"/>
              <a:buChar char="•"/>
            </a:pPr>
            <a:r>
              <a:rPr lang="en-GB" sz="2400">
                <a:latin typeface="Aptos Display"/>
                <a:ea typeface="+mn-lt"/>
                <a:cs typeface="+mn-lt"/>
              </a:rPr>
              <a:t>Each record represents a company’s financial condition for a specific period.</a:t>
            </a:r>
            <a:endParaRPr lang="en-GB" sz="2400">
              <a:latin typeface="Aptos Display"/>
            </a:endParaRPr>
          </a:p>
          <a:p>
            <a:pPr marL="285750" indent="-285750" algn="l">
              <a:buFont typeface="Arial"/>
              <a:buChar char="•"/>
            </a:pPr>
            <a:r>
              <a:rPr lang="en-GB" sz="2400" dirty="0">
                <a:latin typeface="Aptos Display"/>
                <a:ea typeface="+mn-lt"/>
                <a:cs typeface="+mn-lt"/>
              </a:rPr>
              <a:t>The target variable indicates whether a company is bankrupt or non-bankrupt.</a:t>
            </a:r>
            <a:endParaRPr lang="en-GB" sz="2400">
              <a:latin typeface="Aptos Display"/>
            </a:endParaRPr>
          </a:p>
          <a:p>
            <a:pPr marL="285750" indent="-285750" algn="l">
              <a:buFont typeface="Arial"/>
              <a:buChar char="•"/>
            </a:pPr>
            <a:r>
              <a:rPr lang="en-GB" sz="2400" dirty="0">
                <a:latin typeface="Aptos Display"/>
                <a:ea typeface="+mn-lt"/>
                <a:cs typeface="+mn-lt"/>
              </a:rPr>
              <a:t>The dataset is used for a binary classification problem to predict bankruptcy risk</a:t>
            </a:r>
            <a:r>
              <a:rPr lang="en-GB" dirty="0">
                <a:ea typeface="+mn-lt"/>
                <a:cs typeface="+mn-lt"/>
              </a:rPr>
              <a:t>.</a:t>
            </a:r>
            <a:endParaRPr lang="en-GB" dirty="0"/>
          </a:p>
          <a:p>
            <a:endParaRPr lang="en-GB" dirty="0"/>
          </a:p>
        </p:txBody>
      </p:sp>
    </p:spTree>
    <p:extLst>
      <p:ext uri="{BB962C8B-B14F-4D97-AF65-F5344CB8AC3E}">
        <p14:creationId xmlns:p14="http://schemas.microsoft.com/office/powerpoint/2010/main" val="3672681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E45E-D6A7-9780-F652-BAF86DFBCC00}"/>
              </a:ext>
            </a:extLst>
          </p:cNvPr>
          <p:cNvSpPr>
            <a:spLocks noGrp="1"/>
          </p:cNvSpPr>
          <p:nvPr>
            <p:ph type="title"/>
          </p:nvPr>
        </p:nvSpPr>
        <p:spPr>
          <a:xfrm>
            <a:off x="1042129" y="406015"/>
            <a:ext cx="10589728" cy="696037"/>
          </a:xfrm>
        </p:spPr>
        <p:txBody>
          <a:bodyPr/>
          <a:lstStyle/>
          <a:p>
            <a:r>
              <a:rPr lang="en-US" dirty="0">
                <a:latin typeface="Century Schoolbook"/>
                <a:ea typeface="+mj-lt"/>
                <a:cs typeface="+mj-lt"/>
              </a:rPr>
              <a:t>Target Variable Analysis</a:t>
            </a:r>
            <a:endParaRPr lang="en-US" dirty="0">
              <a:latin typeface="Century Schoolbook"/>
            </a:endParaRPr>
          </a:p>
        </p:txBody>
      </p:sp>
      <p:sp>
        <p:nvSpPr>
          <p:cNvPr id="8" name="Slide Number Placeholder 7">
            <a:extLst>
              <a:ext uri="{FF2B5EF4-FFF2-40B4-BE49-F238E27FC236}">
                <a16:creationId xmlns:a16="http://schemas.microsoft.com/office/drawing/2014/main" id="{85577A64-4E94-69E1-3180-1E014BD06B3C}"/>
              </a:ext>
            </a:extLst>
          </p:cNvPr>
          <p:cNvSpPr>
            <a:spLocks noGrp="1"/>
          </p:cNvSpPr>
          <p:nvPr>
            <p:ph type="sldNum" sz="quarter" idx="12"/>
          </p:nvPr>
        </p:nvSpPr>
        <p:spPr/>
        <p:txBody>
          <a:bodyPr/>
          <a:lstStyle/>
          <a:p>
            <a:fld id="{294A09A9-5501-47C1-A89A-A340965A2BE2}" type="slidenum">
              <a:rPr lang="en-US" smtClean="0"/>
              <a:t>7</a:t>
            </a:fld>
            <a:endParaRPr lang="en-US" dirty="0"/>
          </a:p>
        </p:txBody>
      </p:sp>
      <p:sp>
        <p:nvSpPr>
          <p:cNvPr id="4" name="Content Placeholder 3">
            <a:extLst>
              <a:ext uri="{FF2B5EF4-FFF2-40B4-BE49-F238E27FC236}">
                <a16:creationId xmlns:a16="http://schemas.microsoft.com/office/drawing/2014/main" id="{BE22F651-7ABC-015D-B5C4-622708A64CB1}"/>
              </a:ext>
            </a:extLst>
          </p:cNvPr>
          <p:cNvSpPr>
            <a:spLocks noGrp="1"/>
          </p:cNvSpPr>
          <p:nvPr>
            <p:ph sz="half" idx="2"/>
          </p:nvPr>
        </p:nvSpPr>
        <p:spPr>
          <a:xfrm>
            <a:off x="1723098" y="2009956"/>
            <a:ext cx="8753740" cy="2851777"/>
          </a:xfrm>
        </p:spPr>
        <p:txBody>
          <a:bodyPr vert="horz" lIns="91440" tIns="45720" rIns="91440" bIns="45720" rtlCol="0" anchor="t">
            <a:noAutofit/>
          </a:bodyPr>
          <a:lstStyle/>
          <a:p>
            <a:r>
              <a:rPr lang="en-US" sz="2400" dirty="0">
                <a:latin typeface="Aptos Display"/>
                <a:ea typeface="+mn-lt"/>
                <a:cs typeface="+mn-lt"/>
              </a:rPr>
              <a:t>The target variable represents the bankruptcy status of a company.</a:t>
            </a:r>
            <a:endParaRPr lang="en-US" sz="2400" dirty="0">
              <a:latin typeface="Aptos Display"/>
              <a:cs typeface="Segoe UI Light"/>
            </a:endParaRPr>
          </a:p>
          <a:p>
            <a:r>
              <a:rPr lang="en-US" sz="2400" dirty="0">
                <a:latin typeface="Aptos Display"/>
                <a:ea typeface="+mn-lt"/>
                <a:cs typeface="+mn-lt"/>
              </a:rPr>
              <a:t>Value </a:t>
            </a:r>
            <a:r>
              <a:rPr lang="en-US" sz="2400" b="1" dirty="0">
                <a:latin typeface="Aptos Display"/>
                <a:ea typeface="+mn-lt"/>
                <a:cs typeface="+mn-lt"/>
              </a:rPr>
              <a:t>1</a:t>
            </a:r>
            <a:r>
              <a:rPr lang="en-US" sz="2400" dirty="0">
                <a:latin typeface="Aptos Display"/>
                <a:ea typeface="+mn-lt"/>
                <a:cs typeface="+mn-lt"/>
              </a:rPr>
              <a:t> indicates a bankrupt company, while </a:t>
            </a:r>
            <a:r>
              <a:rPr lang="en-US" sz="2400" b="1" dirty="0">
                <a:latin typeface="Aptos Display"/>
                <a:ea typeface="+mn-lt"/>
                <a:cs typeface="+mn-lt"/>
              </a:rPr>
              <a:t>0</a:t>
            </a:r>
            <a:r>
              <a:rPr lang="en-US" sz="2400" dirty="0">
                <a:latin typeface="Aptos Display"/>
                <a:ea typeface="+mn-lt"/>
                <a:cs typeface="+mn-lt"/>
              </a:rPr>
              <a:t> indicates a non-bankrupt company.</a:t>
            </a:r>
            <a:endParaRPr lang="en-US" sz="2400">
              <a:latin typeface="Aptos Display"/>
            </a:endParaRPr>
          </a:p>
          <a:p>
            <a:r>
              <a:rPr lang="en-US" sz="2400" dirty="0">
                <a:latin typeface="Aptos Display"/>
                <a:ea typeface="+mn-lt"/>
                <a:cs typeface="+mn-lt"/>
              </a:rPr>
              <a:t>The dataset is highly imbalanced, with significantly fewer bankrupt companies.</a:t>
            </a:r>
            <a:endParaRPr lang="en-US" sz="2400">
              <a:latin typeface="Aptos Display"/>
            </a:endParaRPr>
          </a:p>
          <a:p>
            <a:r>
              <a:rPr lang="en-US" sz="2400" dirty="0">
                <a:latin typeface="Aptos Display"/>
                <a:ea typeface="+mn-lt"/>
                <a:cs typeface="+mn-lt"/>
              </a:rPr>
              <a:t>Due to class imbalance, evaluation metrics such as Precision, Recall, and F1-score are prioritized over accuracy.</a:t>
            </a:r>
            <a:endParaRPr lang="en-US" sz="2400">
              <a:latin typeface="Aptos Display"/>
            </a:endParaRPr>
          </a:p>
          <a:p>
            <a:endParaRPr lang="en-US" sz="2400" dirty="0">
              <a:latin typeface="Aptos Display"/>
              <a:cs typeface="Segoe UI Light"/>
            </a:endParaRPr>
          </a:p>
        </p:txBody>
      </p:sp>
      <p:sp>
        <p:nvSpPr>
          <p:cNvPr id="7" name="Footer Placeholder 6">
            <a:extLst>
              <a:ext uri="{FF2B5EF4-FFF2-40B4-BE49-F238E27FC236}">
                <a16:creationId xmlns:a16="http://schemas.microsoft.com/office/drawing/2014/main" id="{A9F57080-19CA-8BBA-6050-8494551D4615}"/>
              </a:ext>
            </a:extLst>
          </p:cNvPr>
          <p:cNvSpPr>
            <a:spLocks noGrp="1"/>
          </p:cNvSpPr>
          <p:nvPr>
            <p:ph type="ftr" sz="quarter" idx="11"/>
          </p:nvPr>
        </p:nvSpPr>
        <p:spPr/>
        <p:txBody>
          <a:bodyPr/>
          <a:lstStyle/>
          <a:p>
            <a:r>
              <a:rPr lang="en-US" dirty="0">
                <a:ea typeface="+mn-lt"/>
                <a:cs typeface="+mn-lt"/>
              </a:rPr>
              <a:t>Predicting Company Bankruptcies</a:t>
            </a:r>
            <a:endParaRPr lang="en-US" dirty="0"/>
          </a:p>
        </p:txBody>
      </p:sp>
      <p:pic>
        <p:nvPicPr>
          <p:cNvPr id="11" name="Picture 10" descr="Corporate Bankruptcies Are Rising Globally | Global Finance Magazine">
            <a:extLst>
              <a:ext uri="{FF2B5EF4-FFF2-40B4-BE49-F238E27FC236}">
                <a16:creationId xmlns:a16="http://schemas.microsoft.com/office/drawing/2014/main" id="{4A063990-C05E-3285-8043-014EAAFF2EE7}"/>
              </a:ext>
            </a:extLst>
          </p:cNvPr>
          <p:cNvPicPr>
            <a:picLocks noChangeAspect="1"/>
          </p:cNvPicPr>
          <p:nvPr/>
        </p:nvPicPr>
        <p:blipFill>
          <a:blip r:embed="rId2">
            <a:alphaModFix amt="15000"/>
          </a:blip>
          <a:stretch>
            <a:fillRect/>
          </a:stretch>
        </p:blipFill>
        <p:spPr>
          <a:xfrm>
            <a:off x="2" y="21567"/>
            <a:ext cx="12206375" cy="6843621"/>
          </a:xfrm>
          <a:prstGeom prst="rect">
            <a:avLst/>
          </a:prstGeom>
        </p:spPr>
      </p:pic>
    </p:spTree>
    <p:extLst>
      <p:ext uri="{BB962C8B-B14F-4D97-AF65-F5344CB8AC3E}">
        <p14:creationId xmlns:p14="http://schemas.microsoft.com/office/powerpoint/2010/main" val="76521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1D635-CD95-8D01-C0ED-BD8F70CFFFBB}"/>
              </a:ext>
            </a:extLst>
          </p:cNvPr>
          <p:cNvSpPr>
            <a:spLocks noGrp="1"/>
          </p:cNvSpPr>
          <p:nvPr>
            <p:ph type="title"/>
          </p:nvPr>
        </p:nvSpPr>
        <p:spPr>
          <a:xfrm>
            <a:off x="840849" y="406017"/>
            <a:ext cx="11021047" cy="1141733"/>
          </a:xfrm>
        </p:spPr>
        <p:txBody>
          <a:bodyPr/>
          <a:lstStyle/>
          <a:p>
            <a:r>
              <a:rPr lang="en-GB" b="0" dirty="0">
                <a:latin typeface="Century Schoolbook"/>
                <a:ea typeface="+mj-lt"/>
                <a:cs typeface="+mj-lt"/>
              </a:rPr>
              <a:t>Exploratory Data Analysis (EDA)</a:t>
            </a:r>
            <a:endParaRPr lang="en-US" dirty="0">
              <a:latin typeface="Century Schoolbook"/>
            </a:endParaRPr>
          </a:p>
        </p:txBody>
      </p:sp>
      <p:sp>
        <p:nvSpPr>
          <p:cNvPr id="4" name="Content Placeholder 3">
            <a:extLst>
              <a:ext uri="{FF2B5EF4-FFF2-40B4-BE49-F238E27FC236}">
                <a16:creationId xmlns:a16="http://schemas.microsoft.com/office/drawing/2014/main" id="{1A6E4175-F05C-0FD2-393B-73F57F78F6FF}"/>
              </a:ext>
            </a:extLst>
          </p:cNvPr>
          <p:cNvSpPr>
            <a:spLocks noGrp="1"/>
          </p:cNvSpPr>
          <p:nvPr>
            <p:ph sz="half" idx="2"/>
          </p:nvPr>
        </p:nvSpPr>
        <p:spPr>
          <a:xfrm>
            <a:off x="1047361" y="2053087"/>
            <a:ext cx="9616381" cy="3541889"/>
          </a:xfrm>
        </p:spPr>
        <p:txBody>
          <a:bodyPr vert="horz" lIns="91440" tIns="45720" rIns="91440" bIns="45720" rtlCol="0" anchor="t">
            <a:noAutofit/>
          </a:bodyPr>
          <a:lstStyle/>
          <a:p>
            <a:r>
              <a:rPr lang="en-GB" sz="2000" dirty="0">
                <a:latin typeface="Aptos Display"/>
                <a:ea typeface="+mn-lt"/>
                <a:cs typeface="+mn-lt"/>
              </a:rPr>
              <a:t>Exploratory Data Analysis was performed to statistically and visually examine the underlying structure of the dataset prior to model development. Univariate analysis was used to study the distribution, central tendency, and spread of individual financial features, while box plots were employed to detect outliers and extreme values. Bivariate and multivariate analyses, including correlation matrices and heatmaps, were conducted to identify relationships and multicollinearity among variables.</a:t>
            </a:r>
            <a:endParaRPr lang="en-GB" sz="2000">
              <a:latin typeface="Aptos Display"/>
            </a:endParaRPr>
          </a:p>
          <a:p>
            <a:r>
              <a:rPr lang="en-GB" sz="2000" dirty="0">
                <a:latin typeface="Aptos Display"/>
                <a:ea typeface="+mn-lt"/>
                <a:cs typeface="+mn-lt"/>
              </a:rPr>
              <a:t>EDA also helped assess class imbalance in the target variable and understand how financial indicators differ between bankrupt and non-bankrupt companies. These insights guided feature selection, dimensionality reduction, and preprocessing decisions, ultimately improving model stability, interpretability, and predictive performance.</a:t>
            </a:r>
            <a:endParaRPr lang="en-GB" sz="2000">
              <a:latin typeface="Aptos Display"/>
            </a:endParaRPr>
          </a:p>
          <a:p>
            <a:endParaRPr lang="en-GB" dirty="0"/>
          </a:p>
        </p:txBody>
      </p:sp>
      <p:sp>
        <p:nvSpPr>
          <p:cNvPr id="7" name="Footer Placeholder 6">
            <a:extLst>
              <a:ext uri="{FF2B5EF4-FFF2-40B4-BE49-F238E27FC236}">
                <a16:creationId xmlns:a16="http://schemas.microsoft.com/office/drawing/2014/main" id="{40F76961-F530-15BD-95A9-0FAA03A7E560}"/>
              </a:ext>
            </a:extLst>
          </p:cNvPr>
          <p:cNvSpPr>
            <a:spLocks noGrp="1"/>
          </p:cNvSpPr>
          <p:nvPr>
            <p:ph type="ftr" sz="quarter" idx="11"/>
          </p:nvPr>
        </p:nvSpPr>
        <p:spPr/>
        <p:txBody>
          <a:bodyPr/>
          <a:lstStyle/>
          <a:p>
            <a:r>
              <a:rPr lang="en-US" dirty="0">
                <a:ea typeface="+mn-lt"/>
                <a:cs typeface="+mn-lt"/>
              </a:rPr>
              <a:t>Predicting Company Bankruptcies</a:t>
            </a:r>
            <a:endParaRPr lang="en-US" dirty="0"/>
          </a:p>
        </p:txBody>
      </p:sp>
      <p:sp>
        <p:nvSpPr>
          <p:cNvPr id="8" name="Slide Number Placeholder 7">
            <a:extLst>
              <a:ext uri="{FF2B5EF4-FFF2-40B4-BE49-F238E27FC236}">
                <a16:creationId xmlns:a16="http://schemas.microsoft.com/office/drawing/2014/main" id="{E42AA83B-8B9F-5F11-CA9C-91389DADE913}"/>
              </a:ext>
            </a:extLst>
          </p:cNvPr>
          <p:cNvSpPr>
            <a:spLocks noGrp="1"/>
          </p:cNvSpPr>
          <p:nvPr>
            <p:ph type="sldNum" sz="quarter" idx="12"/>
          </p:nvPr>
        </p:nvSpPr>
        <p:spPr/>
        <p:txBody>
          <a:bodyPr/>
          <a:lstStyle/>
          <a:p>
            <a:fld id="{294A09A9-5501-47C1-A89A-A340965A2BE2}" type="slidenum">
              <a:rPr lang="en-US" smtClean="0"/>
              <a:t>8</a:t>
            </a:fld>
            <a:endParaRPr lang="en-US" dirty="0"/>
          </a:p>
        </p:txBody>
      </p:sp>
      <p:pic>
        <p:nvPicPr>
          <p:cNvPr id="9" name="Picture 8" descr="Utilization of the K-Nearest Neighbor (KNN) and Naive Bayes ...">
            <a:extLst>
              <a:ext uri="{FF2B5EF4-FFF2-40B4-BE49-F238E27FC236}">
                <a16:creationId xmlns:a16="http://schemas.microsoft.com/office/drawing/2014/main" id="{3EB8DFEE-D287-415F-947B-469FE625F8DD}"/>
              </a:ext>
            </a:extLst>
          </p:cNvPr>
          <p:cNvPicPr>
            <a:picLocks noChangeAspect="1"/>
          </p:cNvPicPr>
          <p:nvPr/>
        </p:nvPicPr>
        <p:blipFill>
          <a:blip r:embed="rId2">
            <a:alphaModFix amt="18000"/>
          </a:blip>
          <a:stretch>
            <a:fillRect/>
          </a:stretch>
        </p:blipFill>
        <p:spPr>
          <a:xfrm>
            <a:off x="5032" y="-2156"/>
            <a:ext cx="12181935" cy="6862312"/>
          </a:xfrm>
          <a:prstGeom prst="rect">
            <a:avLst/>
          </a:prstGeom>
        </p:spPr>
      </p:pic>
    </p:spTree>
    <p:extLst>
      <p:ext uri="{BB962C8B-B14F-4D97-AF65-F5344CB8AC3E}">
        <p14:creationId xmlns:p14="http://schemas.microsoft.com/office/powerpoint/2010/main" val="423285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ABD9-116D-2E6F-9EFF-78F927CDB1B3}"/>
              </a:ext>
            </a:extLst>
          </p:cNvPr>
          <p:cNvSpPr>
            <a:spLocks noGrp="1"/>
          </p:cNvSpPr>
          <p:nvPr>
            <p:ph type="title"/>
          </p:nvPr>
        </p:nvSpPr>
        <p:spPr>
          <a:xfrm>
            <a:off x="1372810" y="190358"/>
            <a:ext cx="9741462" cy="1673694"/>
          </a:xfrm>
        </p:spPr>
        <p:txBody>
          <a:bodyPr/>
          <a:lstStyle/>
          <a:p>
            <a:r>
              <a:rPr lang="en-GB" sz="3600">
                <a:latin typeface="Century Schoolbook"/>
                <a:ea typeface="+mj-lt"/>
                <a:cs typeface="+mj-lt"/>
              </a:rPr>
              <a:t>Power BI Dashboard &amp; Key Insights</a:t>
            </a:r>
            <a:endParaRPr lang="en-US" sz="3600">
              <a:latin typeface="Century Schoolbook"/>
            </a:endParaRPr>
          </a:p>
          <a:p>
            <a:endParaRPr lang="en-GB" dirty="0"/>
          </a:p>
        </p:txBody>
      </p:sp>
      <p:sp>
        <p:nvSpPr>
          <p:cNvPr id="4" name="Content Placeholder 3">
            <a:extLst>
              <a:ext uri="{FF2B5EF4-FFF2-40B4-BE49-F238E27FC236}">
                <a16:creationId xmlns:a16="http://schemas.microsoft.com/office/drawing/2014/main" id="{B1AC7FCF-3BFB-BA74-AECE-ECEBECD7CED4}"/>
              </a:ext>
            </a:extLst>
          </p:cNvPr>
          <p:cNvSpPr>
            <a:spLocks noGrp="1"/>
          </p:cNvSpPr>
          <p:nvPr>
            <p:ph sz="half" idx="2"/>
          </p:nvPr>
        </p:nvSpPr>
        <p:spPr>
          <a:xfrm>
            <a:off x="1378041" y="1722408"/>
            <a:ext cx="5835138" cy="4203248"/>
          </a:xfrm>
        </p:spPr>
        <p:txBody>
          <a:bodyPr vert="horz" lIns="91440" tIns="45720" rIns="91440" bIns="45720" rtlCol="0" anchor="t">
            <a:noAutofit/>
          </a:bodyPr>
          <a:lstStyle/>
          <a:p>
            <a:r>
              <a:rPr lang="en-GB" dirty="0">
                <a:ea typeface="+mn-lt"/>
                <a:cs typeface="+mn-lt"/>
              </a:rPr>
              <a:t>• </a:t>
            </a:r>
            <a:r>
              <a:rPr lang="en-GB" b="1" dirty="0">
                <a:latin typeface="Aptos Display"/>
                <a:ea typeface="+mn-lt"/>
                <a:cs typeface="+mn-lt"/>
              </a:rPr>
              <a:t>Power BI was used to visually </a:t>
            </a:r>
            <a:r>
              <a:rPr lang="en-GB" b="1" err="1">
                <a:latin typeface="Aptos Display"/>
                <a:ea typeface="+mn-lt"/>
                <a:cs typeface="+mn-lt"/>
              </a:rPr>
              <a:t>analyze</a:t>
            </a:r>
            <a:r>
              <a:rPr lang="en-GB" b="1" dirty="0">
                <a:latin typeface="Aptos Display"/>
                <a:ea typeface="+mn-lt"/>
                <a:cs typeface="+mn-lt"/>
              </a:rPr>
              <a:t> key financial indicators related to company bankruptcy.</a:t>
            </a:r>
            <a:endParaRPr lang="en-GB" b="1" dirty="0">
              <a:latin typeface="Aptos Display"/>
            </a:endParaRPr>
          </a:p>
          <a:p>
            <a:endParaRPr lang="en-GB" b="1" dirty="0">
              <a:latin typeface="Aptos Display"/>
            </a:endParaRPr>
          </a:p>
          <a:p>
            <a:r>
              <a:rPr lang="en-GB" b="1" dirty="0">
                <a:latin typeface="Aptos Display"/>
                <a:ea typeface="+mn-lt"/>
                <a:cs typeface="+mn-lt"/>
              </a:rPr>
              <a:t>• Non-bankrupt companies show higher CFO to Assets, indicating stronger liquidity and cash flow stability.</a:t>
            </a:r>
            <a:endParaRPr lang="en-GB" b="1" dirty="0">
              <a:latin typeface="Aptos Display"/>
            </a:endParaRPr>
          </a:p>
          <a:p>
            <a:endParaRPr lang="en-GB" b="1" dirty="0">
              <a:latin typeface="Aptos Display"/>
            </a:endParaRPr>
          </a:p>
          <a:p>
            <a:r>
              <a:rPr lang="en-GB" b="1" dirty="0">
                <a:latin typeface="Aptos Display"/>
                <a:ea typeface="+mn-lt"/>
                <a:cs typeface="+mn-lt"/>
              </a:rPr>
              <a:t>• Bankrupt companies exhibit higher average collection days, reflecting inefficient receivables management.</a:t>
            </a:r>
            <a:endParaRPr lang="en-GB" b="1" dirty="0">
              <a:latin typeface="Aptos Display"/>
            </a:endParaRPr>
          </a:p>
          <a:p>
            <a:endParaRPr lang="en-GB" b="1" dirty="0">
              <a:latin typeface="Aptos Display"/>
            </a:endParaRPr>
          </a:p>
          <a:p>
            <a:r>
              <a:rPr lang="en-GB" b="1" dirty="0">
                <a:latin typeface="Aptos Display"/>
                <a:ea typeface="+mn-lt"/>
                <a:cs typeface="+mn-lt"/>
              </a:rPr>
              <a:t>• The distribution of bankrupt vs non-bankrupt firms is highly imbalanced, justifying the use of class balancing and ensemble machine learning models.</a:t>
            </a:r>
            <a:endParaRPr lang="en-GB" b="1" dirty="0">
              <a:latin typeface="Aptos Display"/>
            </a:endParaRPr>
          </a:p>
          <a:p>
            <a:endParaRPr lang="en-GB" dirty="0"/>
          </a:p>
        </p:txBody>
      </p:sp>
      <p:sp>
        <p:nvSpPr>
          <p:cNvPr id="7" name="Footer Placeholder 6">
            <a:extLst>
              <a:ext uri="{FF2B5EF4-FFF2-40B4-BE49-F238E27FC236}">
                <a16:creationId xmlns:a16="http://schemas.microsoft.com/office/drawing/2014/main" id="{6B7DBA1B-B380-F174-6D94-3E96681EC329}"/>
              </a:ext>
            </a:extLst>
          </p:cNvPr>
          <p:cNvSpPr>
            <a:spLocks noGrp="1"/>
          </p:cNvSpPr>
          <p:nvPr>
            <p:ph type="ftr" sz="quarter" idx="11"/>
          </p:nvPr>
        </p:nvSpPr>
        <p:spPr/>
        <p:txBody>
          <a:bodyPr/>
          <a:lstStyle/>
          <a:p>
            <a:r>
              <a:rPr lang="en-US" b="1">
                <a:ea typeface="+mn-lt"/>
                <a:cs typeface="+mn-lt"/>
              </a:rPr>
              <a:t>Predicting Company Bankruptcies</a:t>
            </a:r>
            <a:endParaRPr lang="en-US"/>
          </a:p>
          <a:p>
            <a:endParaRPr lang="en-US" dirty="0"/>
          </a:p>
        </p:txBody>
      </p:sp>
      <p:sp>
        <p:nvSpPr>
          <p:cNvPr id="8" name="Slide Number Placeholder 7">
            <a:extLst>
              <a:ext uri="{FF2B5EF4-FFF2-40B4-BE49-F238E27FC236}">
                <a16:creationId xmlns:a16="http://schemas.microsoft.com/office/drawing/2014/main" id="{A72DBBF3-7846-FF21-ACE9-6732DF731C44}"/>
              </a:ext>
            </a:extLst>
          </p:cNvPr>
          <p:cNvSpPr>
            <a:spLocks noGrp="1"/>
          </p:cNvSpPr>
          <p:nvPr>
            <p:ph type="sldNum" sz="quarter" idx="12"/>
          </p:nvPr>
        </p:nvSpPr>
        <p:spPr/>
        <p:txBody>
          <a:bodyPr/>
          <a:lstStyle/>
          <a:p>
            <a:fld id="{294A09A9-5501-47C1-A89A-A340965A2BE2}" type="slidenum">
              <a:rPr lang="en-US" smtClean="0"/>
              <a:t>9</a:t>
            </a:fld>
            <a:endParaRPr lang="en-US" dirty="0"/>
          </a:p>
        </p:txBody>
      </p:sp>
      <p:pic>
        <p:nvPicPr>
          <p:cNvPr id="10" name="Picture 9" descr="Predicting Bankruptcies: Do You Know What You Don't Know?- Insights ...">
            <a:extLst>
              <a:ext uri="{FF2B5EF4-FFF2-40B4-BE49-F238E27FC236}">
                <a16:creationId xmlns:a16="http://schemas.microsoft.com/office/drawing/2014/main" id="{04C38BE6-1A7D-0CD5-F7A8-B9B74C82C964}"/>
              </a:ext>
            </a:extLst>
          </p:cNvPr>
          <p:cNvPicPr>
            <a:picLocks noChangeAspect="1"/>
          </p:cNvPicPr>
          <p:nvPr/>
        </p:nvPicPr>
        <p:blipFill>
          <a:blip r:embed="rId2">
            <a:alphaModFix amt="12000"/>
          </a:blip>
          <a:stretch>
            <a:fillRect/>
          </a:stretch>
        </p:blipFill>
        <p:spPr>
          <a:xfrm>
            <a:off x="5753" y="-7512"/>
            <a:ext cx="12180496" cy="6858646"/>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260AE6FD-A73C-9177-33FF-7052BDE44102}"/>
              </a:ext>
            </a:extLst>
          </p:cNvPr>
          <p:cNvPicPr>
            <a:picLocks noChangeAspect="1"/>
          </p:cNvPicPr>
          <p:nvPr/>
        </p:nvPicPr>
        <p:blipFill>
          <a:blip r:embed="rId3"/>
          <a:stretch>
            <a:fillRect/>
          </a:stretch>
        </p:blipFill>
        <p:spPr>
          <a:xfrm>
            <a:off x="7216625" y="1866900"/>
            <a:ext cx="4976184" cy="3224842"/>
          </a:xfrm>
          <a:prstGeom prst="rect">
            <a:avLst/>
          </a:prstGeom>
        </p:spPr>
      </p:pic>
    </p:spTree>
    <p:extLst>
      <p:ext uri="{BB962C8B-B14F-4D97-AF65-F5344CB8AC3E}">
        <p14:creationId xmlns:p14="http://schemas.microsoft.com/office/powerpoint/2010/main" val="648728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a:xfrm>
            <a:off x="2810544" y="334130"/>
            <a:ext cx="7714258" cy="739169"/>
          </a:xfrm>
        </p:spPr>
        <p:txBody>
          <a:bodyPr/>
          <a:lstStyle/>
          <a:p>
            <a:r>
              <a:rPr lang="en-US" dirty="0">
                <a:latin typeface="Century Schoolbook"/>
                <a:ea typeface="+mj-lt"/>
                <a:cs typeface="+mj-lt"/>
              </a:rPr>
              <a:t>Feature Selection</a:t>
            </a:r>
            <a:endParaRPr lang="en-US" dirty="0">
              <a:latin typeface="Century Schoolbook"/>
            </a:endParaRPr>
          </a:p>
        </p:txBody>
      </p:sp>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10</a:t>
            </a:fld>
            <a:endParaRPr lang="en-US" dirty="0"/>
          </a:p>
        </p:txBody>
      </p:sp>
      <p:sp>
        <p:nvSpPr>
          <p:cNvPr id="10" name="Content Placeholder 9">
            <a:extLst>
              <a:ext uri="{FF2B5EF4-FFF2-40B4-BE49-F238E27FC236}">
                <a16:creationId xmlns:a16="http://schemas.microsoft.com/office/drawing/2014/main" id="{E135D3F1-0C33-3404-5D49-E70C9D100F2A}"/>
              </a:ext>
            </a:extLst>
          </p:cNvPr>
          <p:cNvSpPr>
            <a:spLocks noGrp="1"/>
          </p:cNvSpPr>
          <p:nvPr>
            <p:ph sz="half" idx="2"/>
          </p:nvPr>
        </p:nvSpPr>
        <p:spPr>
          <a:xfrm>
            <a:off x="1449927" y="1808671"/>
            <a:ext cx="9955285" cy="3254343"/>
          </a:xfrm>
        </p:spPr>
        <p:txBody>
          <a:bodyPr vert="horz" lIns="91440" tIns="45720" rIns="91440" bIns="45720" rtlCol="0" anchor="t">
            <a:noAutofit/>
          </a:bodyPr>
          <a:lstStyle/>
          <a:p>
            <a:r>
              <a:rPr lang="en-US" sz="2400" b="1" dirty="0">
                <a:latin typeface="Aptos Display"/>
                <a:ea typeface="+mn-lt"/>
                <a:cs typeface="+mn-lt"/>
              </a:rPr>
              <a:t>Feature selection was conducted to reduce dimensionality and improve model generalization by retaining only the most informative financial variables. Statistical correlation analysis was applied to quantify the strength of association between each feature and the target variable, allowing the elimination of weakly correlated and redundant features. This process helped mitigate multicollinearity, reduce model complexity, and prevent overfitting. The selected subset of features ensured efficient learning and improved interpretability while maintaining strong predictive performance.</a:t>
            </a:r>
            <a:endParaRPr lang="en-US" sz="2400" b="1" dirty="0">
              <a:latin typeface="Aptos Display"/>
              <a:cs typeface="Segoe UI Light"/>
            </a:endParaRPr>
          </a:p>
          <a:p>
            <a:endParaRPr lang="en-US" sz="2400" b="1" dirty="0">
              <a:latin typeface="Aptos Display"/>
              <a:cs typeface="Segoe UI Light"/>
            </a:endParaRPr>
          </a:p>
          <a:p>
            <a:endParaRPr lang="en-US" dirty="0"/>
          </a:p>
          <a:p>
            <a:endParaRPr lang="en-US" dirty="0"/>
          </a:p>
        </p:txBody>
      </p:sp>
      <p:sp>
        <p:nvSpPr>
          <p:cNvPr id="4" name="Footer Placeholder 3">
            <a:extLst>
              <a:ext uri="{FF2B5EF4-FFF2-40B4-BE49-F238E27FC236}">
                <a16:creationId xmlns:a16="http://schemas.microsoft.com/office/drawing/2014/main" id="{A107ABA7-FC97-4D42-C4BC-897A88CF39AF}"/>
              </a:ext>
            </a:extLst>
          </p:cNvPr>
          <p:cNvSpPr>
            <a:spLocks noGrp="1"/>
          </p:cNvSpPr>
          <p:nvPr>
            <p:ph type="ftr" sz="quarter" idx="11"/>
          </p:nvPr>
        </p:nvSpPr>
        <p:spPr/>
        <p:txBody>
          <a:bodyPr/>
          <a:lstStyle/>
          <a:p>
            <a:r>
              <a:rPr lang="en-US" dirty="0">
                <a:ea typeface="+mn-lt"/>
                <a:cs typeface="+mn-lt"/>
              </a:rPr>
              <a:t>Predicting Company Bankruptcies</a:t>
            </a:r>
            <a:endParaRPr lang="en-US" dirty="0"/>
          </a:p>
        </p:txBody>
      </p:sp>
      <p:pic>
        <p:nvPicPr>
          <p:cNvPr id="21" name="Picture 20" descr="Can AI predict company bankruptcy? Unraveling the Future of Finance! 🤖💰 ...">
            <a:extLst>
              <a:ext uri="{FF2B5EF4-FFF2-40B4-BE49-F238E27FC236}">
                <a16:creationId xmlns:a16="http://schemas.microsoft.com/office/drawing/2014/main" id="{23F2C66E-6F97-9E23-747C-3DA54B3F0F7E}"/>
              </a:ext>
            </a:extLst>
          </p:cNvPr>
          <p:cNvPicPr>
            <a:picLocks noChangeAspect="1"/>
          </p:cNvPicPr>
          <p:nvPr/>
        </p:nvPicPr>
        <p:blipFill>
          <a:blip r:embed="rId2">
            <a:alphaModFix amt="24000"/>
          </a:blip>
          <a:stretch>
            <a:fillRect/>
          </a:stretch>
        </p:blipFill>
        <p:spPr>
          <a:xfrm>
            <a:off x="5032" y="-2155"/>
            <a:ext cx="12181935" cy="6862312"/>
          </a:xfrm>
          <a:prstGeom prst="rect">
            <a:avLst/>
          </a:prstGeom>
        </p:spPr>
      </p:pic>
    </p:spTree>
    <p:extLst>
      <p:ext uri="{BB962C8B-B14F-4D97-AF65-F5344CB8AC3E}">
        <p14:creationId xmlns:p14="http://schemas.microsoft.com/office/powerpoint/2010/main" val="1877080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E238-1548-CC00-86CE-C8EA289F853C}"/>
              </a:ext>
            </a:extLst>
          </p:cNvPr>
          <p:cNvSpPr>
            <a:spLocks noGrp="1"/>
          </p:cNvSpPr>
          <p:nvPr>
            <p:ph type="title"/>
          </p:nvPr>
        </p:nvSpPr>
        <p:spPr>
          <a:xfrm>
            <a:off x="2120431" y="391640"/>
            <a:ext cx="8217466" cy="681659"/>
          </a:xfrm>
        </p:spPr>
        <p:txBody>
          <a:bodyPr/>
          <a:lstStyle/>
          <a:p>
            <a:r>
              <a:rPr lang="en-GB" dirty="0">
                <a:latin typeface="Century Schoolbook"/>
                <a:ea typeface="+mj-lt"/>
                <a:cs typeface="+mj-lt"/>
              </a:rPr>
              <a:t>Data Preprocessing</a:t>
            </a:r>
            <a:endParaRPr lang="en-US" dirty="0">
              <a:latin typeface="Century Schoolbook"/>
            </a:endParaRPr>
          </a:p>
        </p:txBody>
      </p:sp>
      <p:sp>
        <p:nvSpPr>
          <p:cNvPr id="5" name="Text Placeholder 4">
            <a:extLst>
              <a:ext uri="{FF2B5EF4-FFF2-40B4-BE49-F238E27FC236}">
                <a16:creationId xmlns:a16="http://schemas.microsoft.com/office/drawing/2014/main" id="{14309DB7-1BBB-C961-E3E1-BBCE5887F3E6}"/>
              </a:ext>
            </a:extLst>
          </p:cNvPr>
          <p:cNvSpPr>
            <a:spLocks noGrp="1"/>
          </p:cNvSpPr>
          <p:nvPr>
            <p:ph type="body" sz="quarter" idx="3"/>
          </p:nvPr>
        </p:nvSpPr>
        <p:spPr>
          <a:xfrm>
            <a:off x="1462465" y="1236511"/>
            <a:ext cx="9552720" cy="2190302"/>
          </a:xfrm>
        </p:spPr>
        <p:txBody>
          <a:bodyPr/>
          <a:lstStyle/>
          <a:p>
            <a:r>
              <a:rPr lang="en-GB" b="0" dirty="0">
                <a:ea typeface="+mj-lt"/>
                <a:cs typeface="+mj-lt"/>
              </a:rPr>
              <a:t>Data preprocessing was carried out to prepare the dataset for machine learning </a:t>
            </a:r>
            <a:r>
              <a:rPr lang="en-GB" b="0" dirty="0" err="1">
                <a:ea typeface="+mj-lt"/>
                <a:cs typeface="+mj-lt"/>
              </a:rPr>
              <a:t>modeling</a:t>
            </a:r>
            <a:r>
              <a:rPr lang="en-GB" b="0" dirty="0">
                <a:ea typeface="+mj-lt"/>
                <a:cs typeface="+mj-lt"/>
              </a:rPr>
              <a:t>. The data was split into training and testing sets using stratified sampling to maintain class distribution. Feature scaling was applied to standardize financial variables, ensuring consistent model performance. Class imbalance was addressed to reduce prediction bias and improve the reliability of bankruptcy classification.</a:t>
            </a:r>
            <a:endParaRPr lang="en-US" dirty="0"/>
          </a:p>
        </p:txBody>
      </p:sp>
      <p:sp>
        <p:nvSpPr>
          <p:cNvPr id="6" name="Content Placeholder 5">
            <a:extLst>
              <a:ext uri="{FF2B5EF4-FFF2-40B4-BE49-F238E27FC236}">
                <a16:creationId xmlns:a16="http://schemas.microsoft.com/office/drawing/2014/main" id="{8048951E-D59D-A5D9-9C15-DC0F049CCB82}"/>
              </a:ext>
            </a:extLst>
          </p:cNvPr>
          <p:cNvSpPr>
            <a:spLocks noGrp="1"/>
          </p:cNvSpPr>
          <p:nvPr>
            <p:ph sz="quarter" idx="4"/>
          </p:nvPr>
        </p:nvSpPr>
        <p:spPr>
          <a:xfrm>
            <a:off x="844240" y="3562710"/>
            <a:ext cx="10487245" cy="2319815"/>
          </a:xfrm>
        </p:spPr>
        <p:txBody>
          <a:bodyPr vert="horz" lIns="91440" tIns="45720" rIns="91440" bIns="45720" rtlCol="0" anchor="t">
            <a:noAutofit/>
          </a:bodyPr>
          <a:lstStyle/>
          <a:p>
            <a:r>
              <a:rPr lang="en-GB" dirty="0">
                <a:ea typeface="+mn-lt"/>
                <a:cs typeface="+mn-lt"/>
              </a:rPr>
              <a:t>Cleaned and prepared the dataset for machine learning </a:t>
            </a:r>
            <a:r>
              <a:rPr lang="en-GB" dirty="0" err="1">
                <a:ea typeface="+mn-lt"/>
                <a:cs typeface="+mn-lt"/>
              </a:rPr>
              <a:t>modeling</a:t>
            </a:r>
            <a:r>
              <a:rPr lang="en-GB" dirty="0">
                <a:ea typeface="+mn-lt"/>
                <a:cs typeface="+mn-lt"/>
              </a:rPr>
              <a:t>.</a:t>
            </a:r>
            <a:endParaRPr lang="en-GB" dirty="0"/>
          </a:p>
          <a:p>
            <a:r>
              <a:rPr lang="en-GB" dirty="0">
                <a:ea typeface="+mn-lt"/>
                <a:cs typeface="+mn-lt"/>
              </a:rPr>
              <a:t>Split the data into training and testing sets using stratified sampling to preserve class distribution.</a:t>
            </a:r>
          </a:p>
          <a:p>
            <a:r>
              <a:rPr lang="en-GB" dirty="0">
                <a:ea typeface="+mn-lt"/>
                <a:cs typeface="+mn-lt"/>
              </a:rPr>
              <a:t>Applied feature scaling to standardize financial indicators and ensure uniform contribution of features.</a:t>
            </a:r>
            <a:endParaRPr lang="en-GB" dirty="0"/>
          </a:p>
          <a:p>
            <a:r>
              <a:rPr lang="en-GB" dirty="0">
                <a:ea typeface="+mn-lt"/>
                <a:cs typeface="+mn-lt"/>
              </a:rPr>
              <a:t>Addressed class imbalance to prevent bias toward the majority class.</a:t>
            </a:r>
            <a:endParaRPr lang="en-GB" dirty="0"/>
          </a:p>
          <a:p>
            <a:r>
              <a:rPr lang="en-GB" dirty="0">
                <a:ea typeface="+mn-lt"/>
                <a:cs typeface="+mn-lt"/>
              </a:rPr>
              <a:t>Ensured data consistency and quality to improve model stability and generalization.</a:t>
            </a:r>
            <a:endParaRPr lang="en-GB" dirty="0"/>
          </a:p>
          <a:p>
            <a:endParaRPr lang="en-GB" dirty="0"/>
          </a:p>
        </p:txBody>
      </p:sp>
      <p:sp>
        <p:nvSpPr>
          <p:cNvPr id="7" name="Slide Number Placeholder 6">
            <a:extLst>
              <a:ext uri="{FF2B5EF4-FFF2-40B4-BE49-F238E27FC236}">
                <a16:creationId xmlns:a16="http://schemas.microsoft.com/office/drawing/2014/main" id="{42719CDD-FC72-936D-C2C3-5473EA3CFC04}"/>
              </a:ext>
            </a:extLst>
          </p:cNvPr>
          <p:cNvSpPr>
            <a:spLocks noGrp="1"/>
          </p:cNvSpPr>
          <p:nvPr>
            <p:ph type="sldNum" sz="quarter" idx="12"/>
          </p:nvPr>
        </p:nvSpPr>
        <p:spPr/>
        <p:txBody>
          <a:bodyPr/>
          <a:lstStyle/>
          <a:p>
            <a:fld id="{294A09A9-5501-47C1-A89A-A340965A2BE2}" type="slidenum">
              <a:rPr lang="en-US" smtClean="0"/>
              <a:t>11</a:t>
            </a:fld>
            <a:endParaRPr lang="en-US" dirty="0"/>
          </a:p>
        </p:txBody>
      </p:sp>
      <p:sp>
        <p:nvSpPr>
          <p:cNvPr id="8" name="Footer Placeholder 7">
            <a:extLst>
              <a:ext uri="{FF2B5EF4-FFF2-40B4-BE49-F238E27FC236}">
                <a16:creationId xmlns:a16="http://schemas.microsoft.com/office/drawing/2014/main" id="{47D15B84-C745-F5D4-1B6B-965F71E514BE}"/>
              </a:ext>
            </a:extLst>
          </p:cNvPr>
          <p:cNvSpPr>
            <a:spLocks noGrp="1"/>
          </p:cNvSpPr>
          <p:nvPr>
            <p:ph type="ftr" sz="quarter" idx="11"/>
          </p:nvPr>
        </p:nvSpPr>
        <p:spPr/>
        <p:txBody>
          <a:bodyPr/>
          <a:lstStyle/>
          <a:p>
            <a:r>
              <a:rPr lang="en-US" dirty="0">
                <a:ea typeface="+mn-lt"/>
                <a:cs typeface="+mn-lt"/>
              </a:rPr>
              <a:t>Predicting Company Bankruptcies</a:t>
            </a:r>
            <a:endParaRPr lang="en-US" dirty="0"/>
          </a:p>
        </p:txBody>
      </p:sp>
      <p:pic>
        <p:nvPicPr>
          <p:cNvPr id="11" name="Picture 10" descr="The most noteworthy business bankruptcies of 2024 (so far) - TheStreet">
            <a:extLst>
              <a:ext uri="{FF2B5EF4-FFF2-40B4-BE49-F238E27FC236}">
                <a16:creationId xmlns:a16="http://schemas.microsoft.com/office/drawing/2014/main" id="{728E63BF-EF98-085B-8834-4FB545682504}"/>
              </a:ext>
            </a:extLst>
          </p:cNvPr>
          <p:cNvPicPr>
            <a:picLocks noChangeAspect="1"/>
          </p:cNvPicPr>
          <p:nvPr/>
        </p:nvPicPr>
        <p:blipFill>
          <a:blip r:embed="rId2">
            <a:alphaModFix amt="12000"/>
          </a:blip>
          <a:stretch>
            <a:fillRect/>
          </a:stretch>
        </p:blipFill>
        <p:spPr>
          <a:xfrm>
            <a:off x="0" y="1151"/>
            <a:ext cx="12192000" cy="6855698"/>
          </a:xfrm>
          <a:prstGeom prst="rect">
            <a:avLst/>
          </a:prstGeom>
        </p:spPr>
      </p:pic>
    </p:spTree>
    <p:extLst>
      <p:ext uri="{BB962C8B-B14F-4D97-AF65-F5344CB8AC3E}">
        <p14:creationId xmlns:p14="http://schemas.microsoft.com/office/powerpoint/2010/main" val="29267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a:xfrm>
            <a:off x="704088" y="130776"/>
            <a:ext cx="10783823" cy="739169"/>
          </a:xfrm>
        </p:spPr>
        <p:txBody>
          <a:bodyPr/>
          <a:lstStyle/>
          <a:p>
            <a:r>
              <a:rPr lang="en-US" dirty="0">
                <a:ln w="28575">
                  <a:noFill/>
                  <a:prstDash val="solid"/>
                </a:ln>
                <a:latin typeface="Century Schoolbook"/>
                <a:ea typeface="+mj-lt"/>
                <a:cs typeface="+mj-lt"/>
              </a:rPr>
              <a:t>Machine Learning Models</a:t>
            </a:r>
            <a:endParaRPr lang="en-US" dirty="0">
              <a:latin typeface="Century Schoolbook"/>
            </a:endParaRPr>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a:xfrm>
            <a:off x="1796767" y="1715334"/>
            <a:ext cx="8612842" cy="2902270"/>
          </a:xfrm>
        </p:spPr>
        <p:txBody>
          <a:bodyPr vert="horz" lIns="91440" tIns="45720" rIns="91440" bIns="45720" rtlCol="0" anchor="t">
            <a:noAutofit/>
          </a:bodyPr>
          <a:lstStyle/>
          <a:p>
            <a:pPr algn="l"/>
            <a:r>
              <a:rPr lang="en-US" sz="2400" dirty="0">
                <a:latin typeface="Aptos Display"/>
                <a:ea typeface="+mn-lt"/>
                <a:cs typeface="+mn-lt"/>
              </a:rPr>
              <a:t>Multiple machine learning classification models were implemented to predict company bankruptcy. These included Logistic Regression, Decision Tree, Random Forest, Gradient Boosting, and </a:t>
            </a:r>
            <a:r>
              <a:rPr lang="en-US" sz="2400" err="1">
                <a:latin typeface="Aptos Display"/>
                <a:ea typeface="+mn-lt"/>
                <a:cs typeface="+mn-lt"/>
              </a:rPr>
              <a:t>XGBoost</a:t>
            </a:r>
            <a:r>
              <a:rPr lang="en-US" sz="2400" dirty="0">
                <a:latin typeface="Aptos Display"/>
                <a:ea typeface="+mn-lt"/>
                <a:cs typeface="+mn-lt"/>
              </a:rPr>
              <a:t>. Each model was trained and evaluated using the same dataset to ensure fair comparison. Using multiple models helped identify the most accurate and robust approach for bankruptcy prediction.</a:t>
            </a:r>
            <a:endParaRPr lang="en-US" sz="2400">
              <a:latin typeface="Aptos Display"/>
            </a:endParaRPr>
          </a:p>
          <a:p>
            <a:endParaRPr lang="en-US" dirty="0">
              <a:cs typeface="Segoe UI Light"/>
            </a:endParaRPr>
          </a:p>
        </p:txBody>
      </p:sp>
      <p:pic>
        <p:nvPicPr>
          <p:cNvPr id="4" name="Picture 3" descr="GitHub - harshalpweb/Bankruptcy-Prediction: In this project we used ...">
            <a:extLst>
              <a:ext uri="{FF2B5EF4-FFF2-40B4-BE49-F238E27FC236}">
                <a16:creationId xmlns:a16="http://schemas.microsoft.com/office/drawing/2014/main" id="{0C8E7FC3-8233-361E-7AC2-5FAAEB4FB0B8}"/>
              </a:ext>
            </a:extLst>
          </p:cNvPr>
          <p:cNvPicPr>
            <a:picLocks noChangeAspect="1"/>
          </p:cNvPicPr>
          <p:nvPr/>
        </p:nvPicPr>
        <p:blipFill>
          <a:blip r:embed="rId2">
            <a:alphaModFix amt="12000"/>
          </a:blip>
          <a:stretch>
            <a:fillRect/>
          </a:stretch>
        </p:blipFill>
        <p:spPr>
          <a:xfrm>
            <a:off x="-2785" y="2248"/>
            <a:ext cx="12197570" cy="6867882"/>
          </a:xfrm>
          <a:prstGeom prst="rect">
            <a:avLst/>
          </a:prstGeom>
        </p:spPr>
      </p:pic>
    </p:spTree>
    <p:extLst>
      <p:ext uri="{BB962C8B-B14F-4D97-AF65-F5344CB8AC3E}">
        <p14:creationId xmlns:p14="http://schemas.microsoft.com/office/powerpoint/2010/main" val="1958759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CC94D-A941-F9DD-7B8E-B6DB7780BDA9}"/>
              </a:ext>
            </a:extLst>
          </p:cNvPr>
          <p:cNvSpPr>
            <a:spLocks noGrp="1"/>
          </p:cNvSpPr>
          <p:nvPr>
            <p:ph type="ctrTitle"/>
          </p:nvPr>
        </p:nvSpPr>
        <p:spPr>
          <a:xfrm>
            <a:off x="-402" y="245794"/>
            <a:ext cx="12020276" cy="710415"/>
          </a:xfrm>
        </p:spPr>
        <p:txBody>
          <a:bodyPr/>
          <a:lstStyle/>
          <a:p>
            <a:r>
              <a:rPr lang="en-GB" dirty="0">
                <a:latin typeface="Century Schoolbook"/>
                <a:ea typeface="+mj-lt"/>
                <a:cs typeface="+mj-lt"/>
              </a:rPr>
              <a:t>Model Evaluation Metrics</a:t>
            </a:r>
            <a:endParaRPr lang="en-US" dirty="0">
              <a:latin typeface="Century Schoolbook"/>
            </a:endParaRPr>
          </a:p>
        </p:txBody>
      </p:sp>
      <p:sp>
        <p:nvSpPr>
          <p:cNvPr id="3" name="Subtitle 2">
            <a:extLst>
              <a:ext uri="{FF2B5EF4-FFF2-40B4-BE49-F238E27FC236}">
                <a16:creationId xmlns:a16="http://schemas.microsoft.com/office/drawing/2014/main" id="{560217F3-2D33-3D14-20D0-E0587F54B37D}"/>
              </a:ext>
            </a:extLst>
          </p:cNvPr>
          <p:cNvSpPr>
            <a:spLocks noGrp="1"/>
          </p:cNvSpPr>
          <p:nvPr>
            <p:ph type="subTitle" idx="1"/>
          </p:nvPr>
        </p:nvSpPr>
        <p:spPr>
          <a:xfrm>
            <a:off x="1379825" y="1284013"/>
            <a:ext cx="9231067" cy="4598799"/>
          </a:xfrm>
        </p:spPr>
        <p:txBody>
          <a:bodyPr vert="horz" lIns="91440" tIns="45720" rIns="91440" bIns="45720" rtlCol="0" anchor="t">
            <a:noAutofit/>
          </a:bodyPr>
          <a:lstStyle/>
          <a:p>
            <a:pPr algn="l"/>
            <a:r>
              <a:rPr lang="en-GB" sz="2400" b="1" dirty="0">
                <a:latin typeface="Aptos Display"/>
                <a:ea typeface="+mn-lt"/>
                <a:cs typeface="+mn-lt"/>
              </a:rPr>
              <a:t>Model performance was assessed using multiple evaluation metrics to account for the imbalanced nature of the bankruptcy dataset. Accuracy was not solely relied upon, as it can be misleading when the majority class dominates predictions. Precision and Recall were used to evaluate the model’s ability to correctly identify bankrupt companies while minimizing false positives and false negatives. The F1-score, as the harmonic mean of Precision and Recall, provided a balanced measure of classification performance. Confusion matrices were </a:t>
            </a:r>
            <a:r>
              <a:rPr lang="en-GB" sz="2400" b="1" err="1">
                <a:latin typeface="Aptos Display"/>
                <a:ea typeface="+mn-lt"/>
                <a:cs typeface="+mn-lt"/>
              </a:rPr>
              <a:t>analyzed</a:t>
            </a:r>
            <a:r>
              <a:rPr lang="en-GB" sz="2400" b="1" dirty="0">
                <a:latin typeface="Aptos Display"/>
                <a:ea typeface="+mn-lt"/>
                <a:cs typeface="+mn-lt"/>
              </a:rPr>
              <a:t> to obtain detailed insights into true positives, false positives, true negatives, and false negatives, ensuring a comprehensive evaluation of model effectiveness.</a:t>
            </a:r>
            <a:endParaRPr lang="en-US" sz="2400" b="1">
              <a:latin typeface="Aptos Display"/>
            </a:endParaRPr>
          </a:p>
          <a:p>
            <a:pPr algn="l"/>
            <a:endParaRPr lang="en-GB" sz="2400" b="1" dirty="0">
              <a:latin typeface="Aptos Display"/>
            </a:endParaRPr>
          </a:p>
        </p:txBody>
      </p:sp>
      <p:pic>
        <p:nvPicPr>
          <p:cNvPr id="4" name="Picture 3" descr="Corporate Bankruptcies Are Rising Globally | Global Finance Magazine">
            <a:extLst>
              <a:ext uri="{FF2B5EF4-FFF2-40B4-BE49-F238E27FC236}">
                <a16:creationId xmlns:a16="http://schemas.microsoft.com/office/drawing/2014/main" id="{620E828A-881A-B4FD-EA07-8DFC5AA7164B}"/>
              </a:ext>
            </a:extLst>
          </p:cNvPr>
          <p:cNvPicPr>
            <a:picLocks noChangeAspect="1"/>
          </p:cNvPicPr>
          <p:nvPr/>
        </p:nvPicPr>
        <p:blipFill>
          <a:blip r:embed="rId2">
            <a:alphaModFix amt="13000"/>
          </a:blip>
          <a:stretch>
            <a:fillRect/>
          </a:stretch>
        </p:blipFill>
        <p:spPr>
          <a:xfrm>
            <a:off x="1" y="-7189"/>
            <a:ext cx="12191999" cy="6858000"/>
          </a:xfrm>
          <a:prstGeom prst="rect">
            <a:avLst/>
          </a:prstGeom>
        </p:spPr>
      </p:pic>
    </p:spTree>
    <p:extLst>
      <p:ext uri="{BB962C8B-B14F-4D97-AF65-F5344CB8AC3E}">
        <p14:creationId xmlns:p14="http://schemas.microsoft.com/office/powerpoint/2010/main" val="3586874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A9729-DF66-08EC-D3C4-1877B32E8919}"/>
              </a:ext>
            </a:extLst>
          </p:cNvPr>
          <p:cNvSpPr>
            <a:spLocks noGrp="1"/>
          </p:cNvSpPr>
          <p:nvPr>
            <p:ph type="ctrTitle"/>
          </p:nvPr>
        </p:nvSpPr>
        <p:spPr>
          <a:xfrm>
            <a:off x="2414994" y="317682"/>
            <a:ext cx="7735824" cy="681660"/>
          </a:xfrm>
        </p:spPr>
        <p:txBody>
          <a:bodyPr/>
          <a:lstStyle/>
          <a:p>
            <a:r>
              <a:rPr lang="en-GB" dirty="0">
                <a:latin typeface="Century Schoolbook"/>
                <a:ea typeface="+mj-lt"/>
                <a:cs typeface="+mj-lt"/>
              </a:rPr>
              <a:t>Model Comparison</a:t>
            </a:r>
            <a:endParaRPr lang="en-US" dirty="0">
              <a:latin typeface="Century Schoolbook"/>
            </a:endParaRPr>
          </a:p>
        </p:txBody>
      </p:sp>
      <p:sp>
        <p:nvSpPr>
          <p:cNvPr id="3" name="Subtitle 2">
            <a:extLst>
              <a:ext uri="{FF2B5EF4-FFF2-40B4-BE49-F238E27FC236}">
                <a16:creationId xmlns:a16="http://schemas.microsoft.com/office/drawing/2014/main" id="{E450062A-D3EC-2F54-4F49-B9981F2AC58A}"/>
              </a:ext>
            </a:extLst>
          </p:cNvPr>
          <p:cNvSpPr>
            <a:spLocks noGrp="1"/>
          </p:cNvSpPr>
          <p:nvPr>
            <p:ph type="subTitle" idx="1"/>
          </p:nvPr>
        </p:nvSpPr>
        <p:spPr>
          <a:xfrm>
            <a:off x="1768012" y="1312768"/>
            <a:ext cx="8655975" cy="4455025"/>
          </a:xfrm>
        </p:spPr>
        <p:txBody>
          <a:bodyPr vert="horz" lIns="91440" tIns="45720" rIns="91440" bIns="45720" rtlCol="0" anchor="t">
            <a:noAutofit/>
          </a:bodyPr>
          <a:lstStyle/>
          <a:p>
            <a:pPr algn="l"/>
            <a:r>
              <a:rPr lang="en-GB" sz="2400" b="1" dirty="0">
                <a:latin typeface="Aptos Display"/>
                <a:ea typeface="+mn-lt"/>
                <a:cs typeface="+mn-lt"/>
              </a:rPr>
              <a:t>Multiple machine learning models were compared to identify the most effective approach for bankruptcy prediction. All models were trained and evaluated on the same </a:t>
            </a:r>
            <a:r>
              <a:rPr lang="en-GB" sz="2400" b="1" err="1">
                <a:latin typeface="Aptos Display"/>
                <a:ea typeface="+mn-lt"/>
                <a:cs typeface="+mn-lt"/>
              </a:rPr>
              <a:t>preprocessed</a:t>
            </a:r>
            <a:r>
              <a:rPr lang="en-GB" sz="2400" b="1" dirty="0">
                <a:latin typeface="Aptos Display"/>
                <a:ea typeface="+mn-lt"/>
                <a:cs typeface="+mn-lt"/>
              </a:rPr>
              <a:t> dataset using consistent evaluation metrics to ensure a fair comparison. Performance was assessed primarily using Precision, Recall, and F1-score due to class imbalance. Ensemble-based models demonstrated superior performance by effectively capturing complex non-linear relationships and reducing variance and bias. The comparison results highlighted the strengths and limitations of each model, enabling informed selection of the final predictive model.</a:t>
            </a:r>
            <a:endParaRPr lang="en-US" sz="2400" b="1">
              <a:latin typeface="Aptos Display"/>
            </a:endParaRPr>
          </a:p>
          <a:p>
            <a:pPr algn="l"/>
            <a:endParaRPr lang="en-GB" sz="2400" b="1" dirty="0">
              <a:latin typeface="Aptos Display"/>
            </a:endParaRPr>
          </a:p>
        </p:txBody>
      </p:sp>
      <p:pic>
        <p:nvPicPr>
          <p:cNvPr id="4" name="Picture 3" descr="The most noteworthy business bankruptcies of 2024 (so far) - TheStreet">
            <a:extLst>
              <a:ext uri="{FF2B5EF4-FFF2-40B4-BE49-F238E27FC236}">
                <a16:creationId xmlns:a16="http://schemas.microsoft.com/office/drawing/2014/main" id="{77543992-7EF8-76F9-CFF7-E4D3FC4C37FD}"/>
              </a:ext>
            </a:extLst>
          </p:cNvPr>
          <p:cNvPicPr>
            <a:picLocks noChangeAspect="1"/>
          </p:cNvPicPr>
          <p:nvPr/>
        </p:nvPicPr>
        <p:blipFill>
          <a:blip r:embed="rId2">
            <a:alphaModFix amt="13000"/>
          </a:blip>
          <a:stretch>
            <a:fillRect/>
          </a:stretch>
        </p:blipFill>
        <p:spPr>
          <a:xfrm>
            <a:off x="2" y="1151"/>
            <a:ext cx="12191998" cy="6841321"/>
          </a:xfrm>
          <a:prstGeom prst="rect">
            <a:avLst/>
          </a:prstGeom>
        </p:spPr>
      </p:pic>
    </p:spTree>
    <p:extLst>
      <p:ext uri="{BB962C8B-B14F-4D97-AF65-F5344CB8AC3E}">
        <p14:creationId xmlns:p14="http://schemas.microsoft.com/office/powerpoint/2010/main" val="2150335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7BD6-5B09-5770-528A-51D05B515810}"/>
              </a:ext>
            </a:extLst>
          </p:cNvPr>
          <p:cNvSpPr>
            <a:spLocks noGrp="1"/>
          </p:cNvSpPr>
          <p:nvPr>
            <p:ph type="title"/>
          </p:nvPr>
        </p:nvSpPr>
        <p:spPr>
          <a:xfrm>
            <a:off x="6089617" y="1396157"/>
            <a:ext cx="4876455" cy="638527"/>
          </a:xfrm>
        </p:spPr>
        <p:txBody>
          <a:bodyPr/>
          <a:lstStyle/>
          <a:p>
            <a:r>
              <a:rPr lang="en-GB" sz="4000" dirty="0">
                <a:latin typeface="Century Schoolbook"/>
                <a:ea typeface="+mj-lt"/>
                <a:cs typeface="+mj-lt"/>
              </a:rPr>
              <a:t>Conclusion</a:t>
            </a:r>
            <a:endParaRPr lang="en-US" sz="4000">
              <a:latin typeface="Century Schoolbook"/>
            </a:endParaRPr>
          </a:p>
        </p:txBody>
      </p:sp>
      <p:sp>
        <p:nvSpPr>
          <p:cNvPr id="3" name="Text Placeholder 2">
            <a:extLst>
              <a:ext uri="{FF2B5EF4-FFF2-40B4-BE49-F238E27FC236}">
                <a16:creationId xmlns:a16="http://schemas.microsoft.com/office/drawing/2014/main" id="{32389A2C-4661-FD88-B20B-BC064A399530}"/>
              </a:ext>
            </a:extLst>
          </p:cNvPr>
          <p:cNvSpPr>
            <a:spLocks noGrp="1"/>
          </p:cNvSpPr>
          <p:nvPr>
            <p:ph type="body" idx="1"/>
          </p:nvPr>
        </p:nvSpPr>
        <p:spPr>
          <a:xfrm>
            <a:off x="5451779" y="2482740"/>
            <a:ext cx="6204405" cy="3589050"/>
          </a:xfrm>
        </p:spPr>
        <p:txBody>
          <a:bodyPr vert="horz" lIns="91440" tIns="45720" rIns="91440" bIns="45720" rtlCol="0" anchor="t">
            <a:noAutofit/>
          </a:bodyPr>
          <a:lstStyle/>
          <a:p>
            <a:r>
              <a:rPr lang="en-GB" b="1" dirty="0">
                <a:latin typeface="Aptos Display"/>
                <a:ea typeface="+mn-lt"/>
                <a:cs typeface="+mn-lt"/>
              </a:rPr>
              <a:t>This project demonstrated the effectiveness of machine learning models in predicting company bankruptcy based on financial indicators. Through systematic data analysis, preprocessing, and model comparison, ensemble-based models achieved the best predictive performance. The proposed solution can serve as a reliable decision-support system for early risk detection and improved financial decision-making.</a:t>
            </a:r>
            <a:endParaRPr lang="en-US" b="1">
              <a:latin typeface="Aptos Display"/>
            </a:endParaRPr>
          </a:p>
        </p:txBody>
      </p:sp>
      <p:pic>
        <p:nvPicPr>
          <p:cNvPr id="4" name="Picture 3" descr="GitHub - SayamAlt/Company-Bankruptcy-Prediction: Successfully developed ...">
            <a:extLst>
              <a:ext uri="{FF2B5EF4-FFF2-40B4-BE49-F238E27FC236}">
                <a16:creationId xmlns:a16="http://schemas.microsoft.com/office/drawing/2014/main" id="{4BEF2838-025E-6446-A7D7-41644E70C1A9}"/>
              </a:ext>
            </a:extLst>
          </p:cNvPr>
          <p:cNvPicPr>
            <a:picLocks noChangeAspect="1"/>
          </p:cNvPicPr>
          <p:nvPr/>
        </p:nvPicPr>
        <p:blipFill>
          <a:blip r:embed="rId2">
            <a:alphaModFix amt="14000"/>
          </a:blip>
          <a:stretch>
            <a:fillRect/>
          </a:stretch>
        </p:blipFill>
        <p:spPr>
          <a:xfrm>
            <a:off x="5394" y="-1976"/>
            <a:ext cx="12181213" cy="6876330"/>
          </a:xfrm>
          <a:prstGeom prst="rect">
            <a:avLst/>
          </a:prstGeom>
        </p:spPr>
      </p:pic>
    </p:spTree>
    <p:extLst>
      <p:ext uri="{BB962C8B-B14F-4D97-AF65-F5344CB8AC3E}">
        <p14:creationId xmlns:p14="http://schemas.microsoft.com/office/powerpoint/2010/main" val="1012417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15DDA-B031-058A-0EFA-44C8F598EDC5}"/>
              </a:ext>
            </a:extLst>
          </p:cNvPr>
          <p:cNvSpPr>
            <a:spLocks noGrp="1"/>
          </p:cNvSpPr>
          <p:nvPr>
            <p:ph type="title"/>
          </p:nvPr>
        </p:nvSpPr>
        <p:spPr>
          <a:xfrm>
            <a:off x="2288128" y="400783"/>
            <a:ext cx="7603323" cy="624150"/>
          </a:xfrm>
        </p:spPr>
        <p:txBody>
          <a:bodyPr/>
          <a:lstStyle/>
          <a:p>
            <a:r>
              <a:rPr lang="en-GB" b="0" dirty="0">
                <a:latin typeface="Century Schoolbook"/>
                <a:ea typeface="+mj-lt"/>
                <a:cs typeface="+mj-lt"/>
              </a:rPr>
              <a:t>Business Impact</a:t>
            </a:r>
            <a:endParaRPr lang="en-US" dirty="0">
              <a:latin typeface="Century Schoolbook"/>
            </a:endParaRPr>
          </a:p>
        </p:txBody>
      </p:sp>
      <p:sp>
        <p:nvSpPr>
          <p:cNvPr id="3" name="Content Placeholder 2">
            <a:extLst>
              <a:ext uri="{FF2B5EF4-FFF2-40B4-BE49-F238E27FC236}">
                <a16:creationId xmlns:a16="http://schemas.microsoft.com/office/drawing/2014/main" id="{C4EE647F-5A3C-3A24-2DC9-8B29E0D0D160}"/>
              </a:ext>
            </a:extLst>
          </p:cNvPr>
          <p:cNvSpPr>
            <a:spLocks noGrp="1"/>
          </p:cNvSpPr>
          <p:nvPr>
            <p:ph idx="1"/>
          </p:nvPr>
        </p:nvSpPr>
        <p:spPr>
          <a:xfrm>
            <a:off x="1273776" y="1652131"/>
            <a:ext cx="10102683" cy="3547872"/>
          </a:xfrm>
        </p:spPr>
        <p:txBody>
          <a:bodyPr vert="horz" lIns="91440" tIns="45720" rIns="91440" bIns="45720" rtlCol="0" anchor="t">
            <a:noAutofit/>
          </a:bodyPr>
          <a:lstStyle/>
          <a:p>
            <a:pPr indent="-347345"/>
            <a:r>
              <a:rPr lang="en-GB" sz="2400" b="1">
                <a:latin typeface="Aptos Display"/>
                <a:ea typeface="+mn-lt"/>
                <a:cs typeface="+mn-lt"/>
              </a:rPr>
              <a:t>The proposed bankruptcy prediction system enables data-driven financial risk assessment by leveraging historical financial indicators and machine learning models. Financial institutions can integrate this solution into credit evaluation pipelines to improve default risk estimation and optimize lending decisions. Investors can use the model to enhance portfolio risk management by identifying financially unstable companies. Additionally, corporate organizations can utilize early warning insights to initiate restructuring or cost-optimization strategies. Overall, the system supports proactive risk mitigation, reduces financial exposure, and improves strategic decision-making across financial and corporate sectors.</a:t>
            </a:r>
            <a:endParaRPr lang="en-GB" sz="2400" b="1" dirty="0">
              <a:latin typeface="Aptos Display"/>
              <a:cs typeface="Segoe UI Light"/>
            </a:endParaRPr>
          </a:p>
          <a:p>
            <a:pPr indent="-347345"/>
            <a:endParaRPr lang="en-GB" sz="2400" b="1" dirty="0">
              <a:latin typeface="Aptos Display"/>
              <a:cs typeface="Segoe UI Light"/>
            </a:endParaRPr>
          </a:p>
        </p:txBody>
      </p:sp>
      <p:sp>
        <p:nvSpPr>
          <p:cNvPr id="4" name="Slide Number Placeholder 3">
            <a:extLst>
              <a:ext uri="{FF2B5EF4-FFF2-40B4-BE49-F238E27FC236}">
                <a16:creationId xmlns:a16="http://schemas.microsoft.com/office/drawing/2014/main" id="{2E816B0B-FC0D-AF3C-3BBC-FE45D6D8CCF0}"/>
              </a:ext>
            </a:extLst>
          </p:cNvPr>
          <p:cNvSpPr>
            <a:spLocks noGrp="1"/>
          </p:cNvSpPr>
          <p:nvPr>
            <p:ph type="sldNum" sz="quarter" idx="11"/>
          </p:nvPr>
        </p:nvSpPr>
        <p:spPr/>
        <p:txBody>
          <a:bodyPr/>
          <a:lstStyle/>
          <a:p>
            <a:fld id="{294A09A9-5501-47C1-A89A-A340965A2BE2}" type="slidenum">
              <a:rPr lang="en-US" smtClean="0"/>
              <a:pPr/>
              <a:t>16</a:t>
            </a:fld>
            <a:endParaRPr lang="en-US" dirty="0"/>
          </a:p>
        </p:txBody>
      </p:sp>
      <p:sp>
        <p:nvSpPr>
          <p:cNvPr id="5" name="Footer Placeholder 4">
            <a:extLst>
              <a:ext uri="{FF2B5EF4-FFF2-40B4-BE49-F238E27FC236}">
                <a16:creationId xmlns:a16="http://schemas.microsoft.com/office/drawing/2014/main" id="{89D352D9-8A36-FD52-7222-FEBA510F7126}"/>
              </a:ext>
            </a:extLst>
          </p:cNvPr>
          <p:cNvSpPr>
            <a:spLocks noGrp="1"/>
          </p:cNvSpPr>
          <p:nvPr>
            <p:ph type="ftr" sz="quarter" idx="10"/>
          </p:nvPr>
        </p:nvSpPr>
        <p:spPr/>
        <p:txBody>
          <a:bodyPr/>
          <a:lstStyle/>
          <a:p>
            <a:r>
              <a:rPr lang="en-US"/>
              <a:t>Crypto: investing &amp; trading</a:t>
            </a:r>
            <a:endParaRPr lang="en-US" dirty="0"/>
          </a:p>
        </p:txBody>
      </p:sp>
      <p:pic>
        <p:nvPicPr>
          <p:cNvPr id="6" name="Picture 5" descr="ML Models for Smart Finance: Predicting Corporate Bankruptcy | by Kaan ...">
            <a:extLst>
              <a:ext uri="{FF2B5EF4-FFF2-40B4-BE49-F238E27FC236}">
                <a16:creationId xmlns:a16="http://schemas.microsoft.com/office/drawing/2014/main" id="{EED9835A-CED1-B4C7-EBA0-C50D26BF9E60}"/>
              </a:ext>
            </a:extLst>
          </p:cNvPr>
          <p:cNvPicPr>
            <a:picLocks noChangeAspect="1"/>
          </p:cNvPicPr>
          <p:nvPr/>
        </p:nvPicPr>
        <p:blipFill>
          <a:blip r:embed="rId2">
            <a:alphaModFix amt="13000"/>
          </a:blip>
          <a:stretch>
            <a:fillRect/>
          </a:stretch>
        </p:blipFill>
        <p:spPr>
          <a:xfrm>
            <a:off x="2" y="8698"/>
            <a:ext cx="12191997" cy="6854982"/>
          </a:xfrm>
          <a:prstGeom prst="rect">
            <a:avLst/>
          </a:prstGeom>
        </p:spPr>
      </p:pic>
    </p:spTree>
    <p:extLst>
      <p:ext uri="{BB962C8B-B14F-4D97-AF65-F5344CB8AC3E}">
        <p14:creationId xmlns:p14="http://schemas.microsoft.com/office/powerpoint/2010/main" val="157890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3372298" y="2373818"/>
            <a:ext cx="4574531" cy="753546"/>
          </a:xfrm>
        </p:spPr>
        <p:txBody>
          <a:bodyPr/>
          <a:lstStyle/>
          <a:p>
            <a:r>
              <a:rPr lang="en-US" sz="4000" dirty="0">
                <a:ln w="28575">
                  <a:noFill/>
                  <a:prstDash val="solid"/>
                </a:ln>
                <a:latin typeface="Century Schoolbook"/>
              </a:rPr>
              <a:t>Thank you </a:t>
            </a:r>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a:xfrm>
            <a:off x="3367062" y="3431645"/>
            <a:ext cx="4709160" cy="1935653"/>
          </a:xfrm>
        </p:spPr>
        <p:txBody>
          <a:bodyPr vert="horz" lIns="91440" tIns="45720" rIns="91440" bIns="45720" rtlCol="0" anchor="t">
            <a:noAutofit/>
          </a:bodyPr>
          <a:lstStyle/>
          <a:p>
            <a:r>
              <a:rPr lang="en-US" dirty="0">
                <a:latin typeface="Segoe UI Light"/>
                <a:cs typeface="Segoe UI Light"/>
              </a:rPr>
              <a:t>Sayantani Guha </a:t>
            </a:r>
          </a:p>
          <a:p>
            <a:r>
              <a:rPr lang="en-US" dirty="0">
                <a:cs typeface="Segoe UI Light"/>
              </a:rPr>
              <a:t>Sayantaniguha77@gmail.com</a:t>
            </a:r>
          </a:p>
        </p:txBody>
      </p:sp>
      <p:pic>
        <p:nvPicPr>
          <p:cNvPr id="4" name="Picture 3" descr="Can AI predict company bankruptcy? Unraveling the Future of Finance! 🤖💰 ...">
            <a:extLst>
              <a:ext uri="{FF2B5EF4-FFF2-40B4-BE49-F238E27FC236}">
                <a16:creationId xmlns:a16="http://schemas.microsoft.com/office/drawing/2014/main" id="{7B9D9A58-24B8-D948-227C-6E7C2A2144B4}"/>
              </a:ext>
            </a:extLst>
          </p:cNvPr>
          <p:cNvPicPr>
            <a:picLocks noChangeAspect="1"/>
          </p:cNvPicPr>
          <p:nvPr/>
        </p:nvPicPr>
        <p:blipFill>
          <a:blip r:embed="rId2">
            <a:alphaModFix amt="14000"/>
          </a:blip>
          <a:stretch>
            <a:fillRect/>
          </a:stretch>
        </p:blipFill>
        <p:spPr>
          <a:xfrm>
            <a:off x="5034" y="-2156"/>
            <a:ext cx="12181933" cy="6862312"/>
          </a:xfrm>
          <a:prstGeom prst="rect">
            <a:avLst/>
          </a:prstGeom>
        </p:spPr>
      </p:pic>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4A3FD6-E6BF-490E-B6B4-6A011394B0E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3C4A95C-9007-4EA6-944B-306B6F2A0100}">
  <ds:schemaRefs>
    <ds:schemaRef ds:uri="http://schemas.microsoft.com/sharepoint/v3/contenttype/forms"/>
  </ds:schemaRefs>
</ds:datastoreItem>
</file>

<file path=customXml/itemProps3.xml><?xml version="1.0" encoding="utf-8"?>
<ds:datastoreItem xmlns:ds="http://schemas.openxmlformats.org/officeDocument/2006/customXml" ds:itemID="{62CF8670-35D1-4455-AC7A-762B7388BE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TM66925244</Template>
  <TotalTime>0</TotalTime>
  <Words>490</Words>
  <Application>Microsoft Office PowerPoint</Application>
  <PresentationFormat>Widescreen</PresentationFormat>
  <Paragraphs>130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Predicting Company Bankruptcies</vt:lpstr>
      <vt:lpstr>CONTENTS</vt:lpstr>
      <vt:lpstr>INTRODUCTION</vt:lpstr>
      <vt:lpstr>Problem Statement</vt:lpstr>
      <vt:lpstr>Project Objectives</vt:lpstr>
      <vt:lpstr>Dataset Overview</vt:lpstr>
      <vt:lpstr>Target Variable Analysis</vt:lpstr>
      <vt:lpstr>Exploratory Data Analysis (EDA)</vt:lpstr>
      <vt:lpstr>Power BI Dashboard &amp; Key Insights </vt:lpstr>
      <vt:lpstr>Feature Selection</vt:lpstr>
      <vt:lpstr>Data Preprocessing</vt:lpstr>
      <vt:lpstr>Machine Learning Models</vt:lpstr>
      <vt:lpstr>Model Evaluation Metrics</vt:lpstr>
      <vt:lpstr>Model Comparison</vt:lpstr>
      <vt:lpstr>Conclusion</vt:lpstr>
      <vt:lpstr>Business Impact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572</cp:revision>
  <dcterms:created xsi:type="dcterms:W3CDTF">2026-01-17T08:05:35Z</dcterms:created>
  <dcterms:modified xsi:type="dcterms:W3CDTF">2026-01-18T05:45:46Z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